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Служебный слайд, не оценивается. Состав по подразделу 6.1.6 условий. Репозиторий, коммит и тестовые доступы вписываются в финальный PDF при сдаче.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Титул объединён с резюме, чтобы уложиться в 12 слайдов.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Сегмент сужен по отрасли, региону, масштабу и ситуации, как требуют условия.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Постановка по форме подраздела 8.2 условий, три факта с реквизитами.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Один участок процесса: подготовка расчёта и коммерческого предложения. Разницу несёт число шагов, не цвет.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Снимки экранов вставляются со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Допуск по пункту 7.1 условий. Статусы строк проверить на день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Гипотеза по форме подраздела 8.3. Текущие значения: оценка команды, уточняются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(15 %), техническая оценка. Схема уровня контейнеров нотации 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Деление на ядро и переменную часть по подразделу 8.5 условий.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Москва названа отдельно: с 01.07.2026 подбор объекта идёт через государственную платформу, лучше сказать об этом самим.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QR на видео вставить, когда ролик будет готов.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6-1.png"/><Relationship Id="rId4" Type="http://schemas.openxmlformats.org/officeDocument/2006/relationships/image" Target="../media/image-6-2.png"/><Relationship Id="rId5" Type="http://schemas.openxmlformats.org/officeDocument/2006/relationships/image" Target="../media/image-6-3.png"/><Relationship Id="rId6" Type="http://schemas.openxmlformats.org/officeDocument/2006/relationships/image" Target="../media/image-6-4.png"/><Relationship Id="rId7" Type="http://schemas.openxmlformats.org/officeDocument/2006/relationships/image" Target="../media/image-6-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64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Служебный слайд, не оценивается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решению и порядок проверки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363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068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14900" y="25068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https://max.ru/t782_hakaton_max_bot?startapp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9354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0783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4900" y="30783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3506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3649861"/>
            <a:ext cx="3728085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браузере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14900" y="3649861"/>
            <a:ext cx="8123301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4335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4478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4900" y="4478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4907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5050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4900" y="5050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https://triadmind.ru/api/v1/openapi.yaml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5478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5621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договора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4900" y="5621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https://triadmind.ru/api/swagger/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66800" y="6050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6193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обновлений ботом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14900" y="6193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https://triadmind.ru/bot/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66800" y="6621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7" name="Text 25"/>
          <p:cNvSpPr/>
          <p:nvPr/>
        </p:nvSpPr>
        <p:spPr>
          <a:xfrm>
            <a:off x="1066800" y="6764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и коммит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14900" y="6764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7764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00" y="7193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1" name="Text 29"/>
          <p:cNvSpPr/>
          <p:nvPr/>
        </p:nvSpPr>
        <p:spPr>
          <a:xfrm>
            <a:off x="1066800" y="7336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доступы и токены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14900" y="7336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3411200" y="2363986"/>
            <a:ext cx="3810000" cy="3219450"/>
          </a:xfrm>
          <a:prstGeom prst="roundRect">
            <a:avLst>
              <a:gd name="adj" fmla="val 5917"/>
            </a:avLst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0" y="2668786"/>
            <a:ext cx="1905000" cy="19050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667994" y="4726186"/>
            <a:ext cx="3296412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мини-приложение в MAX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411200" y="5850136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проверки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13411200" y="6242447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Открыть мини-приложение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3411200" y="6634758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Выбрать адрес из подсказки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3411200" y="7027069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Указать отходы и объём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3411200" y="7419380"/>
            <a:ext cx="392430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Сравнить и выбрать полигоны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11200" y="8108752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Выпустить предложение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593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«Эффективный бизнес»,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724025"/>
            <a:ext cx="17769840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10200" b="1" spc="-204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0200" dirty="0"/>
          </a:p>
        </p:txBody>
      </p:sp>
      <p:sp>
        <p:nvSpPr>
          <p:cNvPr id="5" name="Text 3"/>
          <p:cNvSpPr/>
          <p:nvPr/>
        </p:nvSpPr>
        <p:spPr>
          <a:xfrm>
            <a:off x="1066800" y="3248025"/>
            <a:ext cx="127539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вывоза и утилизации строительных отходов для Москвы и Московской области в мессенджере MAX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6800" y="5734199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5934224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57600" y="5934224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неделями, перевозчик узнаёт о них по телефону. В июне 2026 года семь полигонов области временно закрыли приём.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66800" y="6844754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7044779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657600" y="7044779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считает перевозку и утилизацию по адресу и объёму и выпускает коммерческое предложение.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66800" y="87058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800" y="795531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8155335"/>
            <a:ext cx="251460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657600" y="8155335"/>
            <a:ext cx="1491996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без звонков на полигоны, с датой обновления у каждой цены.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66800" y="9096375"/>
            <a:ext cx="25164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Прокошев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9401175"/>
            <a:ext cx="2516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64037" y="9096375"/>
            <a:ext cx="27932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Краснопольский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64037" y="9401175"/>
            <a:ext cx="279323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12943" y="9096375"/>
            <a:ext cx="22420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 Бабенко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12943" y="9401175"/>
            <a:ext cx="22420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4427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 сервис нужен малым и средним перевозчикам Москвы и области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5886450" cy="2783979"/>
          </a:xfrm>
          <a:prstGeom prst="roundRect">
            <a:avLst>
              <a:gd name="adj" fmla="val 6843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3365897"/>
            <a:ext cx="3668911" cy="352425"/>
          </a:xfrm>
          <a:prstGeom prst="roundRect">
            <a:avLst>
              <a:gd name="adj" fmla="val 16216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3403997"/>
            <a:ext cx="38453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платит подписку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870722"/>
            <a:ext cx="56788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28750" y="4423172"/>
            <a:ext cx="5317426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полигон и маршрут, считает рейс, заказывает сопровождение документов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181850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34275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34275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компания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534275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расчёт и коммерческое предложение без звонка менеджеру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315825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68250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Демонтажная компания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668250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Закладывает в бюджет сноса актуальные цены и статусы полигонов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844302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8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80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Отходы строительства и сноса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1625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25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 и Московская область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2583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9033570"/>
            <a:ext cx="4253865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своего аналитика цен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3540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540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рейса и смета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374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чаще, чем перевозчик пересчитывает смету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7337521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Перевозчику строительных отходов в Москве и области нужно посчитать рейс заранее. Цены полигонов разбросаны по разным источникам, а принимает ли полигон сегодня, часто можно узнать только по телефону.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5156597"/>
            <a:ext cx="733752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итоге смета считается по старой цене, а машина приезжает на полигон, который временно закрыт.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028807" y="2851547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8" name="Text 6"/>
          <p:cNvSpPr/>
          <p:nvPr/>
        </p:nvSpPr>
        <p:spPr>
          <a:xfrm>
            <a:off x="9028807" y="2994422"/>
            <a:ext cx="1981200" cy="1973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01.07.2026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238607" y="2994422"/>
            <a:ext cx="6161917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Москве запрещено захоронение строительных отходов. Разрешение на вывоз выдаётся на каждый рейс и действует 12 часов.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238607" y="4358283"/>
            <a:ext cx="61619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г. Москвы от 27.05.2026 № 9, постановление Правительства Москвы от 15.04.2026 № 1079-ПП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28807" y="5063133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9028807" y="5206008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06.2026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238607" y="5206008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Московской области семь полигонов временно перестали принимать отходы. Тарифы выросли примерно на треть.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8607" y="624795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Министерство экологии Московской области, июнь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28807" y="880437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8807" y="693375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9028807" y="7076629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238607" y="7076629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будут считаться по массе, а не по объёму. Кубометры придётся переводить в тонны.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238607" y="811857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Постановление Правительства РФ от 02.06.2026 № 676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9178379"/>
            <a:ext cx="9010948" cy="499021"/>
          </a:xfrm>
          <a:prstGeom prst="roundRect">
            <a:avLst>
              <a:gd name="adj" fmla="val 11452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9200" y="9254579"/>
            <a:ext cx="8976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у каждой цены и статуса в сервисе указана дата обновления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6755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есть и как будет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расчёта уходят звонок на полигон и ручная сборка сметы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456682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06680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0492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4925" y="4533007"/>
            <a:ext cx="2711599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во внутренний калькулятор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32807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619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619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 за ценой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61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7615" y="4533007"/>
            <a:ext cx="2711599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выясняется на месте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85076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8888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888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собирается вручную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411218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030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350305" y="4533007"/>
            <a:ext cx="2895883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6800" y="6194078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сервисом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6680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1445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445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Адрес, отходы и объём в форме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432807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6619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6619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56619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уже в справочнике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49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714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3714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приёма виден до выезда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085076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108888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8888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вручную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8888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выпускает сервис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1218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5983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359830" y="7279928"/>
            <a:ext cx="287492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066800" y="9372600"/>
            <a:ext cx="1776984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выборе полигона остаётся за человеком.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026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сценарий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адреса до коммерческого предложения за пять шагов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8" name="Снимок 1" descr="Снимок шага 1: адрес вывоза с подсказко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7" name="Text 5"/>
          <p:cNvSpPr/>
          <p:nvPr/>
        </p:nvSpPr>
        <p:spPr>
          <a:xfrm>
            <a:off x="10668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Адрес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668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Выбирается из подсказки, расчёт идёт по координатам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434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9" name="Снимок 2" descr="Снимок шага 2: тип отходов и объё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 9"/>
          <p:cNvSpPr/>
          <p:nvPr/>
        </p:nvSpPr>
        <p:spPr>
          <a:xfrm>
            <a:off x="43434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Отходы и объём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3434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тоннах или кубометрах, в тонны переводит сервер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200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0" name="Снимок 3" descr="Снимок шага 3: расчёт по полигона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5" name="Text 13"/>
          <p:cNvSpPr/>
          <p:nvPr/>
        </p:nvSpPr>
        <p:spPr>
          <a:xfrm>
            <a:off x="76200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Расчёт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200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 и утилизация отдельно, у полигона статус и дата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8966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1" name="Снимок 4" descr="Снимок шага 4: сортировка и предел расстоя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2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9" name="Text 17"/>
          <p:cNvSpPr/>
          <p:nvPr/>
        </p:nvSpPr>
        <p:spPr>
          <a:xfrm>
            <a:off x="108966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Сравнение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966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Сортировка, предел расстояния, объём делится между полигонами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2" name="Снимок 5" descr="Снимок шага 5: коммерческое предложение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798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23" name="Text 21"/>
          <p:cNvSpPr/>
          <p:nvPr/>
        </p:nvSpPr>
        <p:spPr>
          <a:xfrm>
            <a:off x="141732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Предложение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1732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с номером и датой, повторное нажатие не создаёт копию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66800" y="92011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9410700"/>
            <a:ext cx="4370591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= перевозка + утилизация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21064" y="9401175"/>
            <a:ext cx="1224066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Перевозка: масса × цена т·км × расстояние по дорогам. Утилизация: масса × тариф полигона.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2535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MAX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отвечает на короткие вопросы, расчёт идёт в мини-приложении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66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7183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запуска мини-приложения и список команд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594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8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5526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4752677"/>
            <a:ext cx="608022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Примерная стоимость по адресу и объёму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94104" y="47526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8879" y="47812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5476577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Справка о тарифе и плотности с датой обновления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594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8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70348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6800" y="63109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6510933"/>
            <a:ext cx="598248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Сообщение, когда меняется статус заявки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594104" y="6510933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8879" y="6539508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48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448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5" name="Text 23"/>
          <p:cNvSpPr/>
          <p:nvPr/>
        </p:nvSpPr>
        <p:spPr>
          <a:xfrm>
            <a:off x="9448800" y="3718322"/>
            <a:ext cx="672377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расчёта с несколькими видами отходов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5976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80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800" y="42421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Text 27"/>
          <p:cNvSpPr/>
          <p:nvPr/>
        </p:nvSpPr>
        <p:spPr>
          <a:xfrm>
            <a:off x="9448800" y="44422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полигонов по цене, статусу и расстоянию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76104" y="44422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80879" y="44707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48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3" name="Text 31"/>
          <p:cNvSpPr/>
          <p:nvPr/>
        </p:nvSpPr>
        <p:spPr>
          <a:xfrm>
            <a:off x="9448800" y="5476577"/>
            <a:ext cx="679351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объёма и выпуск предложения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5976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080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448800" y="67243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7" name="Shape 35"/>
          <p:cNvSpPr/>
          <p:nvPr/>
        </p:nvSpPr>
        <p:spPr>
          <a:xfrm>
            <a:off x="9448800" y="60004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8" name="Text 36"/>
          <p:cNvSpPr/>
          <p:nvPr/>
        </p:nvSpPr>
        <p:spPr>
          <a:xfrm>
            <a:off x="9448800" y="6200477"/>
            <a:ext cx="390663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и детали поездки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76104" y="62004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080879" y="62290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9968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 коммерческое предложение готово за 2 минуты вместо 40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считает рейс в мини-приложении по справочнику с датами обновления. Звонить на полигоны и собирать смету вручную больше не нужно.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6400800"/>
            <a:ext cx="101003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0" y="6400800"/>
            <a:ext cx="18859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20600" y="6400800"/>
            <a:ext cx="29337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ИМОЛТ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316200" y="6400800"/>
            <a:ext cx="20955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68103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701129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от запроса до готового предложения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477500" y="701992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701040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16200" y="701040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15" name="Text 13"/>
          <p:cNvSpPr/>
          <p:nvPr/>
        </p:nvSpPr>
        <p:spPr>
          <a:xfrm>
            <a:off x="15392400" y="701040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66800" y="75247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772566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на полигоны на один расчёт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773430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420600" y="772477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16200" y="772477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5392400" y="772477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66800" y="823912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844004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Расчётов по данным старше семи дней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477500" y="844867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2420600" y="843915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16200" y="843915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7" name="Text 25"/>
          <p:cNvSpPr/>
          <p:nvPr/>
        </p:nvSpPr>
        <p:spPr>
          <a:xfrm>
            <a:off x="15392400" y="843915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66800" y="96678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6800" y="895350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1066800" y="915441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Шагов до готового предложения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0477500" y="916305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420600" y="915352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316200" y="915352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34" name="Text 32"/>
          <p:cNvSpPr/>
          <p:nvPr/>
        </p:nvSpPr>
        <p:spPr>
          <a:xfrm>
            <a:off x="15392400" y="915352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818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 состоит из четырёх служб и работает через платформу MAX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734300" y="3156347"/>
            <a:ext cx="6286500" cy="5905500"/>
          </a:xfrm>
          <a:prstGeom prst="roundRect">
            <a:avLst>
              <a:gd name="adj" fmla="val 3226"/>
            </a:avLst>
          </a:prstGeom>
          <a:ln w="28575">
            <a:solidFill>
              <a:srgbClr val="E7F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4300" y="2737247"/>
            <a:ext cx="1048345" cy="304800"/>
          </a:xfrm>
          <a:prstGeom prst="roundRect">
            <a:avLst>
              <a:gd name="adj" fmla="val 18750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7848600" y="2756297"/>
            <a:ext cx="9245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3156347"/>
            <a:ext cx="16154400" cy="5905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6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8250" y="368974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38250" y="400407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или заказчик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66800" y="763309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8250" y="778549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38250" y="809982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данных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87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38725" y="3706416"/>
            <a:ext cx="20383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38725" y="4296966"/>
            <a:ext cx="2158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MAX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496300" y="353734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7750" y="366593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miniapp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8667750" y="40374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7750" y="43612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496300" y="553759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67750" y="566618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8667750" y="60376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67750" y="63615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MAX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1544300" y="3537347"/>
            <a:ext cx="2286000" cy="3238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715750" y="4056459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11715750" y="442793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1715750" y="47517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715750" y="5075634"/>
            <a:ext cx="20193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расчёт, справочники, предложение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715750" y="59709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операции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544300" y="7728347"/>
            <a:ext cx="2286000" cy="12954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715750" y="7742634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11715750" y="8114109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715750" y="8437959"/>
            <a:ext cx="20193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справочники, заявки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4973300" y="353734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5135225" y="355163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135225" y="414218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14973300" y="553759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135225" y="555188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5135225" y="614243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и расстояния</a:t>
            </a:r>
            <a:endParaRPr lang="en-US" sz="1950" dirty="0"/>
          </a:p>
        </p:txBody>
      </p:sp>
      <p:sp>
        <p:nvSpPr>
          <p:cNvPr id="42" name="Shape 39"/>
          <p:cNvSpPr/>
          <p:nvPr/>
        </p:nvSpPr>
        <p:spPr>
          <a:xfrm>
            <a:off x="3467100" y="3823097"/>
            <a:ext cx="1432173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3524250" y="3823097"/>
            <a:ext cx="146109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пользуется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219950" y="3823097"/>
            <a:ext cx="134882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277100" y="3823097"/>
            <a:ext cx="13694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6515100" y="5328047"/>
            <a:ext cx="158502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6572250" y="5328047"/>
            <a:ext cx="16292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обновления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763250" y="3823097"/>
            <a:ext cx="526852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/>
          <p:nvPr/>
        </p:nvSpPr>
        <p:spPr>
          <a:xfrm>
            <a:off x="10820400" y="3823097"/>
            <a:ext cx="465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0744200" y="5823347"/>
            <a:ext cx="7291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10801350" y="5823347"/>
            <a:ext cx="68772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12801600" y="7099697"/>
            <a:ext cx="581471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12858750" y="7099697"/>
            <a:ext cx="52531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13982700" y="3823097"/>
            <a:ext cx="823317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2"/>
          <p:cNvSpPr/>
          <p:nvPr/>
        </p:nvSpPr>
        <p:spPr>
          <a:xfrm>
            <a:off x="14039850" y="3823097"/>
            <a:ext cx="79134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3849350" y="5823347"/>
            <a:ext cx="11863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/>
          <p:nvPr/>
        </p:nvSpPr>
        <p:spPr>
          <a:xfrm>
            <a:off x="13906500" y="5823347"/>
            <a:ext cx="119064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3924300" y="7871222"/>
            <a:ext cx="278517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/>
          <p:nvPr/>
        </p:nvSpPr>
        <p:spPr>
          <a:xfrm>
            <a:off x="3981450" y="7871222"/>
            <a:ext cx="294938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цены, тарифы, статусы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1066800" y="9290447"/>
            <a:ext cx="45128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контейнеров, нотация C4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5626596" y="9290447"/>
            <a:ext cx="6052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службы в Docker, запуск одной командой: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1243072" y="9290447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Формула, модель данных и сценарий переносятся в новый регион без изменений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4478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478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как есть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478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стоимости и перевод объёма в массу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4478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4478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 и схема базы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478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от адреса до коммерческого предложения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478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8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службы и договор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4478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4478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расчёта и сравнения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2583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393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часть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6393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под контекст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6393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полигонов, тарифы и цены перевозки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6393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Нормативные требования региона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6393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96393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региональными системами учёта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участников и права доступа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6393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96393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 и реквизиты коммерческого предложения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переносится на другие регионы, виды отходов и участников рынка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92774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3108722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регион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48300" y="3108722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справочник полигонов и региональные правила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066800" y="360208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783062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отходы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48300" y="3783062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коммунальных и промышленных отходов меняются группы, плотности и тарифы. Пока отложено.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66800" y="459834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4779318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полигона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48300" y="4779318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ведёт цены и статусы в редакторе, без менеджера ИМОЛТ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066800" y="6268938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800" y="527268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" y="5453658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448300" y="5453658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01.07.2026 полигон и перевозчика подбирает государственная платформа. В Москве сервис нужен для бюджета и анализа цен, в области остаётся выбор полигона.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66800" y="81057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запуска в новом регионе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680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920163"/>
            <a:ext cx="2050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14785" y="8944868"/>
            <a:ext cx="46104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региона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52775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94450" y="8920163"/>
            <a:ext cx="2661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136755" y="8783985"/>
            <a:ext cx="448734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региональную систему учёта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988701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5401" y="8920163"/>
            <a:ext cx="2701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601724" y="8783985"/>
            <a:ext cx="448320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с одним перевозчиком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812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сделано и что с этим делаем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287786"/>
            <a:ext cx="58674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05600" y="2287786"/>
            <a:ext cx="46939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7600" y="2287786"/>
            <a:ext cx="23050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725936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519041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статусы полигонов демонстрационные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05600" y="3519041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из официального перечня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77600" y="3667571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4896743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5689848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 и расстояния берутся из своих таблиц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05600" y="5689848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поставщика, переходники готовы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77600" y="5838379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238655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800" y="7067699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7860804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в пути и переход в карты закрыты подпиской, обременения пусты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05600" y="7860804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состав подписки и источник данных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7600" y="8009334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982700" y="2287786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982700" y="2802136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49450" y="3030736"/>
            <a:ext cx="1905000" cy="1905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69581" y="5088136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82700" y="6139458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sp>
        <p:nvSpPr>
          <p:cNvPr id="26" name="Shape 23"/>
          <p:cNvSpPr/>
          <p:nvPr/>
        </p:nvSpPr>
        <p:spPr>
          <a:xfrm>
            <a:off x="14649450" y="6368058"/>
            <a:ext cx="1905000" cy="1905000"/>
          </a:xfrm>
          <a:prstGeom prst="roundRect">
            <a:avLst>
              <a:gd name="adj" fmla="val 3000"/>
            </a:avLst>
          </a:prstGeom>
          <a:solidFill>
            <a:srgbClr val="E4E3E8"/>
          </a:solidFill>
          <a:ln/>
        </p:spPr>
      </p:sp>
      <p:sp>
        <p:nvSpPr>
          <p:cNvPr id="27" name="Text 24"/>
          <p:cNvSpPr/>
          <p:nvPr/>
        </p:nvSpPr>
        <p:spPr>
          <a:xfrm>
            <a:off x="14611350" y="6368058"/>
            <a:ext cx="19812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 видео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4169581" y="8425458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 прохождения сценария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066800" y="94011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Названия, координаты и адреса полигонов: © участники OpenStreetMap, лицензия ODbL 1.0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2026-09-25T08:34:59Z</dcterms:created>
  <dcterms:modified xsi:type="dcterms:W3CDTF">2026-09-25T08:34:59Z</dcterms:modified>
</cp:coreProperties>
</file>
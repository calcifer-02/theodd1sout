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Служебный слайд, не оценивается. Состав по подразделу 6.1.6 условий. Репозиторий, коммит и тестовые доступы вписываются в финальный PDF при сдаче.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Критерий: обоснованность и целостность (15 %). Титул объединён с резюме, чтобы уложиться в 12 слайдов.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Критерий: пользовательская ценность (25 %). Сегмент сужен по отрасли, региону, масштабу и ситуации, как требуют условия.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Критерий: пользовательская ценность (25 %). Постановка по форме подраздела 8.2 условий, три факта с реквизитами.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Критерий: обоснованность и целостность (15 %). Один участок процесса: подготовка расчёта и коммерческого предложения. Разницу несёт число шагов, не цвет.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Критерий: пользовательский опыт и удобство (20 %). Снимки экранов вставляются со стенда.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Критерий: пользовательский опыт и удобство (20 %). Допуск по пункту 7.1 условий. Статусы строк проверить на день сдачи.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Критерий: пользовательская ценность (25 %). Гипотеза по форме подраздела 8.3. Текущие значения: оценка команды, уточняются на пилоте.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Критерий: обоснованность и целостность (15 %), техническая оценка. Схема уровня контейнеров нотации C4.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Критерий: потенциал масштабирования (35 %). Деление на ядро и переменную часть по подразделу 8.5 условий.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Критерий: потенциал масштабирования (35 %). Москва названа отдельно: с 01.07.2026 подбор объекта идёт через государственную платформу, лучше сказать об этом самим.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Критерий: обоснованность и целостность (15 %). QR на видео вставить, когда ролик будет готов.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-6-1.png"/><Relationship Id="rId4" Type="http://schemas.openxmlformats.org/officeDocument/2006/relationships/image" Target="../media/image-6-2.png"/><Relationship Id="rId5" Type="http://schemas.openxmlformats.org/officeDocument/2006/relationships/image" Target="../media/image-6-3.png"/><Relationship Id="rId6" Type="http://schemas.openxmlformats.org/officeDocument/2006/relationships/image" Target="../media/image-6-4.png"/><Relationship Id="rId7" Type="http://schemas.openxmlformats.org/officeDocument/2006/relationships/image" Target="../media/image-6-5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Relationship Id="rId4" Type="http://schemas.openxmlformats.org/officeDocument/2006/relationships/image" Target="../media/image-12-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4641533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Служебный слайд, не оценивается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200120" y="685800"/>
            <a:ext cx="10972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1/12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66800" y="1266825"/>
            <a:ext cx="17769840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391"/>
              </a:lnSpc>
              <a:buNone/>
            </a:pPr>
            <a:r>
              <a:rPr lang="en-US" sz="4500" b="1" spc="-45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Доступ к решению и порядок проверки</a:t>
            </a:r>
            <a:endParaRPr lang="en-US" sz="4500" dirty="0"/>
          </a:p>
        </p:txBody>
      </p:sp>
      <p:sp>
        <p:nvSpPr>
          <p:cNvPr id="5" name="Shape 3"/>
          <p:cNvSpPr/>
          <p:nvPr/>
        </p:nvSpPr>
        <p:spPr>
          <a:xfrm>
            <a:off x="1066800" y="2363986"/>
            <a:ext cx="117348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6" name="Text 4"/>
          <p:cNvSpPr/>
          <p:nvPr/>
        </p:nvSpPr>
        <p:spPr>
          <a:xfrm>
            <a:off x="1066800" y="2506861"/>
            <a:ext cx="39814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Мини-приложение в MAX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914900" y="2506861"/>
            <a:ext cx="867537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https://max.ru/t782_hakaton_max_bot?startapp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066800" y="2935486"/>
            <a:ext cx="117348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9" name="Text 7"/>
          <p:cNvSpPr/>
          <p:nvPr/>
        </p:nvSpPr>
        <p:spPr>
          <a:xfrm>
            <a:off x="1066800" y="3078361"/>
            <a:ext cx="39814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Чат-бот в MAX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914900" y="3078361"/>
            <a:ext cx="867537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https://max.ru/t782_hakaton_max_bot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066800" y="3506986"/>
            <a:ext cx="117348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2" name="Text 10"/>
          <p:cNvSpPr/>
          <p:nvPr/>
        </p:nvSpPr>
        <p:spPr>
          <a:xfrm>
            <a:off x="1066800" y="3649861"/>
            <a:ext cx="3728085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Мини-приложение в браузере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914900" y="3649861"/>
            <a:ext cx="8123301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https://triadmind.ru/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066800" y="4335661"/>
            <a:ext cx="117348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5" name="Text 13"/>
          <p:cNvSpPr/>
          <p:nvPr/>
        </p:nvSpPr>
        <p:spPr>
          <a:xfrm>
            <a:off x="1066800" y="4478536"/>
            <a:ext cx="39814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914900" y="4478536"/>
            <a:ext cx="867537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https://triadmind.ru/api/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066800" y="4907161"/>
            <a:ext cx="117348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8" name="Text 16"/>
          <p:cNvSpPr/>
          <p:nvPr/>
        </p:nvSpPr>
        <p:spPr>
          <a:xfrm>
            <a:off x="1066800" y="5050036"/>
            <a:ext cx="39814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Договор API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914900" y="5050036"/>
            <a:ext cx="867537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https://triadmind.ru/api/v1/openapi.yaml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066800" y="5478661"/>
            <a:ext cx="117348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21" name="Text 19"/>
          <p:cNvSpPr/>
          <p:nvPr/>
        </p:nvSpPr>
        <p:spPr>
          <a:xfrm>
            <a:off x="1066800" y="5621536"/>
            <a:ext cx="39814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Просмотр договора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4914900" y="5621536"/>
            <a:ext cx="867537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https://triadmind.ru/api/swagger/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066800" y="6050161"/>
            <a:ext cx="117348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24" name="Text 22"/>
          <p:cNvSpPr/>
          <p:nvPr/>
        </p:nvSpPr>
        <p:spPr>
          <a:xfrm>
            <a:off x="1066800" y="6193036"/>
            <a:ext cx="39814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Приём обновлений ботом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4914900" y="6193036"/>
            <a:ext cx="867537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https://triadmind.ru/bot/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066800" y="6621661"/>
            <a:ext cx="117348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27" name="Text 25"/>
          <p:cNvSpPr/>
          <p:nvPr/>
        </p:nvSpPr>
        <p:spPr>
          <a:xfrm>
            <a:off x="1066800" y="6764536"/>
            <a:ext cx="39814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Репозиторий и коммит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4914900" y="6764536"/>
            <a:ext cx="867537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&lt;заполняется при сдаче&gt;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066800" y="7764661"/>
            <a:ext cx="117348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30" name="Shape 28"/>
          <p:cNvSpPr/>
          <p:nvPr/>
        </p:nvSpPr>
        <p:spPr>
          <a:xfrm>
            <a:off x="1066800" y="7193161"/>
            <a:ext cx="117348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31" name="Text 29"/>
          <p:cNvSpPr/>
          <p:nvPr/>
        </p:nvSpPr>
        <p:spPr>
          <a:xfrm>
            <a:off x="1066800" y="7336036"/>
            <a:ext cx="39814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Тестовые доступы и токены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4914900" y="7336036"/>
            <a:ext cx="867537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&lt;заполняется при сдаче&gt;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13411200" y="2363986"/>
            <a:ext cx="3810000" cy="3219450"/>
          </a:xfrm>
          <a:prstGeom prst="roundRect">
            <a:avLst>
              <a:gd name="adj" fmla="val 5917"/>
            </a:avLst>
          </a:prstGeom>
          <a:solidFill>
            <a:srgbClr val="FFFFFF"/>
          </a:solidFill>
          <a:ln/>
        </p:spPr>
      </p:sp>
      <p:pic>
        <p:nvPicPr>
          <p:cNvPr id="3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63700" y="2668786"/>
            <a:ext cx="1905000" cy="1905000"/>
          </a:xfrm>
          <a:prstGeom prst="rect">
            <a:avLst/>
          </a:prstGeom>
        </p:spPr>
      </p:pic>
      <p:sp>
        <p:nvSpPr>
          <p:cNvPr id="35" name="Text 32"/>
          <p:cNvSpPr/>
          <p:nvPr/>
        </p:nvSpPr>
        <p:spPr>
          <a:xfrm>
            <a:off x="13667994" y="4726186"/>
            <a:ext cx="3296412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Открыть мини-приложение в MAX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13411200" y="5850136"/>
            <a:ext cx="4191000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Порядок проверки</a:t>
            </a:r>
            <a:endParaRPr lang="en-US" sz="1800" dirty="0"/>
          </a:p>
        </p:txBody>
      </p:sp>
      <p:sp>
        <p:nvSpPr>
          <p:cNvPr id="37" name="Text 34"/>
          <p:cNvSpPr/>
          <p:nvPr/>
        </p:nvSpPr>
        <p:spPr>
          <a:xfrm>
            <a:off x="13411200" y="6242447"/>
            <a:ext cx="4191000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Открыть мини-приложение</a:t>
            </a:r>
            <a:endParaRPr lang="en-US" sz="1800" dirty="0"/>
          </a:p>
        </p:txBody>
      </p:sp>
      <p:sp>
        <p:nvSpPr>
          <p:cNvPr id="38" name="Text 35"/>
          <p:cNvSpPr/>
          <p:nvPr/>
        </p:nvSpPr>
        <p:spPr>
          <a:xfrm>
            <a:off x="13411200" y="6634758"/>
            <a:ext cx="4191000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Выбрать адрес из подсказки</a:t>
            </a:r>
            <a:endParaRPr lang="en-US" sz="1800" dirty="0"/>
          </a:p>
        </p:txBody>
      </p:sp>
      <p:sp>
        <p:nvSpPr>
          <p:cNvPr id="39" name="Text 36"/>
          <p:cNvSpPr/>
          <p:nvPr/>
        </p:nvSpPr>
        <p:spPr>
          <a:xfrm>
            <a:off x="13411200" y="7027069"/>
            <a:ext cx="4191000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Указать отходы и объём</a:t>
            </a:r>
            <a:endParaRPr lang="en-US" sz="1800" dirty="0"/>
          </a:p>
        </p:txBody>
      </p:sp>
      <p:sp>
        <p:nvSpPr>
          <p:cNvPr id="40" name="Text 37"/>
          <p:cNvSpPr/>
          <p:nvPr/>
        </p:nvSpPr>
        <p:spPr>
          <a:xfrm>
            <a:off x="13411200" y="7419380"/>
            <a:ext cx="4191000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Сравнить и выбрать полигоны</a:t>
            </a:r>
            <a:endParaRPr lang="en-US" sz="1800" dirty="0"/>
          </a:p>
        </p:txBody>
      </p:sp>
      <p:sp>
        <p:nvSpPr>
          <p:cNvPr id="41" name="Text 38"/>
          <p:cNvSpPr/>
          <p:nvPr/>
        </p:nvSpPr>
        <p:spPr>
          <a:xfrm>
            <a:off x="13411200" y="7811691"/>
            <a:ext cx="4191000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Выпустить предложение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4593401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Трек «Эффективный бизнес», 2026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200120" y="685800"/>
            <a:ext cx="10972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2/12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66800" y="1724025"/>
            <a:ext cx="17769840" cy="1333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179"/>
              </a:lnSpc>
              <a:buNone/>
            </a:pPr>
            <a:r>
              <a:rPr lang="en-US" sz="10200" b="1" spc="-204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ИМОЛТ</a:t>
            </a:r>
            <a:endParaRPr lang="en-US" sz="10200" dirty="0"/>
          </a:p>
        </p:txBody>
      </p:sp>
      <p:sp>
        <p:nvSpPr>
          <p:cNvPr id="5" name="Text 3"/>
          <p:cNvSpPr/>
          <p:nvPr/>
        </p:nvSpPr>
        <p:spPr>
          <a:xfrm>
            <a:off x="1066800" y="3248025"/>
            <a:ext cx="12753975" cy="1028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556"/>
              </a:lnSpc>
              <a:buNone/>
            </a:pPr>
            <a:r>
              <a:rPr lang="en-US" sz="3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 вывоза и утилизации строительных отходов для Москвы и Московской области в мессенджере MAX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066800" y="5734199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7" name="Text 5"/>
          <p:cNvSpPr/>
          <p:nvPr/>
        </p:nvSpPr>
        <p:spPr>
          <a:xfrm>
            <a:off x="1066800" y="5934224"/>
            <a:ext cx="2362200" cy="758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Проблема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3657600" y="5934224"/>
            <a:ext cx="13970508" cy="758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21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Цены и условия приёма на полигонах меняются неделями, перевозчик узнаёт о них по телефону. В июне 2026 года семь полигонов области временно закрыли приём.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1066800" y="6844754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0" name="Text 8"/>
          <p:cNvSpPr/>
          <p:nvPr/>
        </p:nvSpPr>
        <p:spPr>
          <a:xfrm>
            <a:off x="1066800" y="7044779"/>
            <a:ext cx="2362200" cy="758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Решение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3657600" y="7044779"/>
            <a:ext cx="13970508" cy="758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21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Мини-приложение считает перевозку и утилизацию по адресу и объёму и выпускает коммерческое предложение.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1066800" y="8705850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3" name="Shape 11"/>
          <p:cNvSpPr/>
          <p:nvPr/>
        </p:nvSpPr>
        <p:spPr>
          <a:xfrm>
            <a:off x="1066800" y="7955310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4" name="Text 12"/>
          <p:cNvSpPr/>
          <p:nvPr/>
        </p:nvSpPr>
        <p:spPr>
          <a:xfrm>
            <a:off x="1066800" y="8155335"/>
            <a:ext cx="2514600" cy="398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Результат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3657600" y="8155335"/>
            <a:ext cx="14919960" cy="398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21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 без звонков на полигоны, с датой обновления у каждой цены.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066800" y="9096375"/>
            <a:ext cx="29464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Александр Прокошев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66800" y="9401175"/>
            <a:ext cx="29464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368800" y="9096375"/>
            <a:ext cx="29464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Сергей Краснопольский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368800" y="9401175"/>
            <a:ext cx="29464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7670800" y="9096375"/>
            <a:ext cx="29464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Владимир Бабенко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670800" y="9401175"/>
            <a:ext cx="29464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UX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1442784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Аудитория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200120" y="685800"/>
            <a:ext cx="10972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3/12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66800" y="1266825"/>
            <a:ext cx="14716125" cy="13180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391"/>
              </a:lnSpc>
              <a:buNone/>
            </a:pPr>
            <a:r>
              <a:rPr lang="en-US" sz="4500" b="1" spc="-45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Первыми сервис нужен малым и средним перевозчикам Москвы и области</a:t>
            </a:r>
            <a:endParaRPr lang="en-US" sz="4500" dirty="0"/>
          </a:p>
        </p:txBody>
      </p:sp>
      <p:sp>
        <p:nvSpPr>
          <p:cNvPr id="5" name="Shape 3"/>
          <p:cNvSpPr/>
          <p:nvPr/>
        </p:nvSpPr>
        <p:spPr>
          <a:xfrm>
            <a:off x="1066800" y="3003947"/>
            <a:ext cx="5886450" cy="2783979"/>
          </a:xfrm>
          <a:prstGeom prst="roundRect">
            <a:avLst>
              <a:gd name="adj" fmla="val 6843"/>
            </a:avLst>
          </a:prstGeom>
          <a:ln w="1905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28750" y="3365897"/>
            <a:ext cx="3668911" cy="352425"/>
          </a:xfrm>
          <a:prstGeom prst="roundRect">
            <a:avLst>
              <a:gd name="adj" fmla="val 16216"/>
            </a:avLst>
          </a:prstGeom>
          <a:solidFill>
            <a:srgbClr val="E7F53D"/>
          </a:solidFill>
          <a:ln/>
        </p:spPr>
      </p:sp>
      <p:sp>
        <p:nvSpPr>
          <p:cNvPr id="7" name="Text 5"/>
          <p:cNvSpPr/>
          <p:nvPr/>
        </p:nvSpPr>
        <p:spPr>
          <a:xfrm>
            <a:off x="1524000" y="3403997"/>
            <a:ext cx="3845302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Приоритет, платит подписку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28750" y="3870722"/>
            <a:ext cx="5678805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Перевозчик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1428750" y="4423172"/>
            <a:ext cx="5317426" cy="10409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3226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Выбирает полигон и маршрут, считает рейс, заказывает сопровождение документов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7181850" y="3003947"/>
            <a:ext cx="4905375" cy="2783979"/>
          </a:xfrm>
          <a:prstGeom prst="roundRect">
            <a:avLst>
              <a:gd name="adj" fmla="val 6843"/>
            </a:avLst>
          </a:prstGeom>
          <a:ln w="9525">
            <a:solidFill>
              <a:srgbClr val="D7D7D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534275" y="3394472"/>
            <a:ext cx="2119402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Второй сегмент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534275" y="3861197"/>
            <a:ext cx="4620578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Строительная компания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7534275" y="4413647"/>
            <a:ext cx="4326541" cy="10409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3226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Получает расчёт и коммерческое предложение без звонка менеджеру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12315825" y="3003947"/>
            <a:ext cx="4905375" cy="2783979"/>
          </a:xfrm>
          <a:prstGeom prst="roundRect">
            <a:avLst>
              <a:gd name="adj" fmla="val 6843"/>
            </a:avLst>
          </a:prstGeom>
          <a:ln w="9525">
            <a:solidFill>
              <a:srgbClr val="D7D7D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668250" y="3394472"/>
            <a:ext cx="2119402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Второй сегмент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668250" y="3861197"/>
            <a:ext cx="4620578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Демонтажная компания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12668250" y="4413647"/>
            <a:ext cx="4326541" cy="10409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3226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Закладывает в бюджет сноса актуальные цены и статусы полигонов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1066800" y="8443020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9" name="Text 17"/>
          <p:cNvSpPr/>
          <p:nvPr/>
        </p:nvSpPr>
        <p:spPr>
          <a:xfrm>
            <a:off x="1066800" y="8681145"/>
            <a:ext cx="425386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Отрасль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066800" y="9033570"/>
            <a:ext cx="3983165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Отходы строительства и сноса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5162550" y="8681145"/>
            <a:ext cx="425386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Регион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162550" y="9033570"/>
            <a:ext cx="3983165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Москва и Московская область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9258300" y="8681145"/>
            <a:ext cx="425386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Масштаб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9258300" y="9033570"/>
            <a:ext cx="4253865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Нет своего аналитика цен</a:t>
            </a:r>
            <a:endParaRPr lang="en-US" sz="1950" dirty="0"/>
          </a:p>
        </p:txBody>
      </p:sp>
      <p:sp>
        <p:nvSpPr>
          <p:cNvPr id="25" name="Text 23"/>
          <p:cNvSpPr/>
          <p:nvPr/>
        </p:nvSpPr>
        <p:spPr>
          <a:xfrm>
            <a:off x="13354050" y="8681145"/>
            <a:ext cx="425386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Ситуация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3354050" y="9033570"/>
            <a:ext cx="3983165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Планирование рейса и смета</a:t>
            </a:r>
            <a:endParaRPr lang="en-US" sz="1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1374026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Проблема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200120" y="685800"/>
            <a:ext cx="10972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4/12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66800" y="1266825"/>
            <a:ext cx="16639032" cy="13180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391"/>
              </a:lnSpc>
              <a:buNone/>
            </a:pPr>
            <a:r>
              <a:rPr lang="en-US" sz="4500" b="1" spc="-45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Цены и условия приёма на полигонах меняются чаще, чем перевозчик пересчитывает смету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1066800" y="2851547"/>
            <a:ext cx="7337521" cy="2038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529"/>
              </a:lnSpc>
              <a:buNone/>
            </a:pPr>
            <a:r>
              <a:rPr lang="en-US" sz="22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Перевозчику строительных отходов в Москве и области нужно посчитать рейс заранее. Цены полигонов разбросаны по разным источникам, а принимает ли полигон сегодня, часто можно узнать только по телефону.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1066800" y="5156597"/>
            <a:ext cx="7337521" cy="1238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529"/>
              </a:lnSpc>
              <a:buNone/>
            </a:pPr>
            <a:r>
              <a:rPr lang="en-US" sz="22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итоге смета считается по старой цене, а машина приезжает на полигон, который временно закрыт.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028807" y="2851547"/>
            <a:ext cx="8192244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8" name="Text 6"/>
          <p:cNvSpPr/>
          <p:nvPr/>
        </p:nvSpPr>
        <p:spPr>
          <a:xfrm>
            <a:off x="9028807" y="2994422"/>
            <a:ext cx="1981200" cy="19734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01.07.2026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11238607" y="2994422"/>
            <a:ext cx="6161917" cy="13257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Москве запрещено захоронение строительных отходов. Разрешение на вывоз выдаётся на каждый рейс и действует 12 часов.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11238607" y="4358283"/>
            <a:ext cx="6161917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Закон г. Москвы от 27.05.2026 № 9, постановление Правительства Москвы от 15.04.2026 № 1079-ПП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028807" y="5063133"/>
            <a:ext cx="8192244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2" name="Text 10"/>
          <p:cNvSpPr/>
          <p:nvPr/>
        </p:nvSpPr>
        <p:spPr>
          <a:xfrm>
            <a:off x="9028807" y="5206008"/>
            <a:ext cx="1981200" cy="16324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06.2026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11238607" y="5206008"/>
            <a:ext cx="6161917" cy="10038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Московской области семь полигонов временно перестали принимать отходы. Тарифы выросли примерно на треть.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1238607" y="6247954"/>
            <a:ext cx="6161917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Министерство экологии Московской области, июнь 2026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9028807" y="8804374"/>
            <a:ext cx="8192244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6" name="Shape 14"/>
          <p:cNvSpPr/>
          <p:nvPr/>
        </p:nvSpPr>
        <p:spPr>
          <a:xfrm>
            <a:off x="9028807" y="6933754"/>
            <a:ext cx="8192244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7" name="Text 15"/>
          <p:cNvSpPr/>
          <p:nvPr/>
        </p:nvSpPr>
        <p:spPr>
          <a:xfrm>
            <a:off x="9028807" y="7076629"/>
            <a:ext cx="1981200" cy="16324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1238607" y="7076629"/>
            <a:ext cx="6161917" cy="10038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Тарифы будут считаться по массе, а не по объёму. Кубометры придётся переводить в тонны.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11238607" y="8118574"/>
            <a:ext cx="6161917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Постановление Правительства РФ от 02.06.2026 № 676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066800" y="9178379"/>
            <a:ext cx="9728200" cy="499021"/>
          </a:xfrm>
          <a:prstGeom prst="roundRect">
            <a:avLst>
              <a:gd name="adj" fmla="val 11452"/>
            </a:avLst>
          </a:prstGeom>
          <a:solidFill>
            <a:srgbClr val="E7F53D"/>
          </a:solidFill>
          <a:ln/>
        </p:spPr>
      </p:sp>
      <p:sp>
        <p:nvSpPr>
          <p:cNvPr id="21" name="Text 19"/>
          <p:cNvSpPr/>
          <p:nvPr/>
        </p:nvSpPr>
        <p:spPr>
          <a:xfrm>
            <a:off x="1219200" y="9254579"/>
            <a:ext cx="9423400" cy="3847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3750"/>
              </a:lnSpc>
              <a:buNone/>
            </a:pPr>
            <a:r>
              <a:rPr 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Поэтому у каждой цены и статуса в сервисе указана дата обновления</a:t>
            </a:r>
            <a:endParaRPr lang="en-US" sz="2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2675528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есть и как будет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200120" y="685800"/>
            <a:ext cx="10972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5/12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66800" y="1266825"/>
            <a:ext cx="14716125" cy="13180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391"/>
              </a:lnSpc>
              <a:buNone/>
            </a:pPr>
            <a:r>
              <a:rPr lang="en-US" sz="4500" b="1" spc="-45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 расчёта уходят звонок на полигон и ручная сборка сметы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1066800" y="3456682"/>
            <a:ext cx="1776984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Сейчас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1066800" y="3904357"/>
            <a:ext cx="3108871" cy="1832521"/>
          </a:xfrm>
          <a:prstGeom prst="roundRect">
            <a:avLst>
              <a:gd name="adj" fmla="val 10396"/>
            </a:avLst>
          </a:prstGeom>
          <a:ln w="9525">
            <a:solidFill>
              <a:srgbClr val="D7D7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304925" y="4142482"/>
            <a:ext cx="2895883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04925" y="4533007"/>
            <a:ext cx="2711599" cy="10038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 во внутренний калькулятор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4328071" y="3904357"/>
            <a:ext cx="3109020" cy="1832521"/>
          </a:xfrm>
          <a:prstGeom prst="roundRect">
            <a:avLst>
              <a:gd name="adj" fmla="val 10396"/>
            </a:avLst>
          </a:prstGeom>
          <a:ln w="9525">
            <a:solidFill>
              <a:srgbClr val="D7D7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66196" y="4142482"/>
            <a:ext cx="2896046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66196" y="4533007"/>
            <a:ext cx="2711753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Звонок на полигон за ценой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7589490" y="3904357"/>
            <a:ext cx="3108871" cy="1832521"/>
          </a:xfrm>
          <a:prstGeom prst="roundRect">
            <a:avLst>
              <a:gd name="adj" fmla="val 10396"/>
            </a:avLst>
          </a:prstGeom>
          <a:ln w="9525">
            <a:solidFill>
              <a:srgbClr val="D7D7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827615" y="4142482"/>
            <a:ext cx="2895883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827615" y="4533007"/>
            <a:ext cx="2711599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Приём выясняется на месте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10850761" y="3904357"/>
            <a:ext cx="3109020" cy="1832521"/>
          </a:xfrm>
          <a:prstGeom prst="roundRect">
            <a:avLst>
              <a:gd name="adj" fmla="val 10396"/>
            </a:avLst>
          </a:prstGeom>
          <a:ln w="9525">
            <a:solidFill>
              <a:srgbClr val="D7D7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088886" y="4142482"/>
            <a:ext cx="2896046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1088886" y="4533007"/>
            <a:ext cx="2711753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Смета собирается вручную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14112180" y="3904357"/>
            <a:ext cx="3108871" cy="1832521"/>
          </a:xfrm>
          <a:prstGeom prst="roundRect">
            <a:avLst>
              <a:gd name="adj" fmla="val 10396"/>
            </a:avLst>
          </a:prstGeom>
          <a:ln w="9525">
            <a:solidFill>
              <a:srgbClr val="D7D7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4350305" y="4142482"/>
            <a:ext cx="2895883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4350305" y="4533007"/>
            <a:ext cx="2895883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Выбор полигона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1066800" y="6194078"/>
            <a:ext cx="1776984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сервисом</a:t>
            </a:r>
            <a:endParaRPr lang="en-US" sz="1950" dirty="0"/>
          </a:p>
        </p:txBody>
      </p:sp>
      <p:sp>
        <p:nvSpPr>
          <p:cNvPr id="22" name="Shape 20"/>
          <p:cNvSpPr/>
          <p:nvPr/>
        </p:nvSpPr>
        <p:spPr>
          <a:xfrm>
            <a:off x="1066800" y="6641753"/>
            <a:ext cx="3108871" cy="1897112"/>
          </a:xfrm>
          <a:prstGeom prst="roundRect">
            <a:avLst>
              <a:gd name="adj" fmla="val 10042"/>
            </a:avLst>
          </a:prstGeom>
          <a:ln w="1905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314450" y="6889403"/>
            <a:ext cx="2874928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314450" y="7279928"/>
            <a:ext cx="2691978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Адрес, отходы и объём в форме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4328071" y="6641753"/>
            <a:ext cx="3109020" cy="1897112"/>
          </a:xfrm>
          <a:prstGeom prst="roundRect">
            <a:avLst>
              <a:gd name="adj" fmla="val 10042"/>
            </a:avLst>
          </a:prstGeom>
          <a:ln w="9525">
            <a:solidFill>
              <a:srgbClr val="D7D7D9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4566196" y="6879878"/>
            <a:ext cx="2896046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4566196" y="7270403"/>
            <a:ext cx="2896046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strike="sngStrike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Звонок на полигон</a:t>
            </a:r>
            <a:endParaRPr lang="en-US" sz="1950" dirty="0"/>
          </a:p>
        </p:txBody>
      </p:sp>
      <p:sp>
        <p:nvSpPr>
          <p:cNvPr id="28" name="Text 26"/>
          <p:cNvSpPr/>
          <p:nvPr/>
        </p:nvSpPr>
        <p:spPr>
          <a:xfrm>
            <a:off x="4566196" y="7706618"/>
            <a:ext cx="2711753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Цена уже в справочнике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7589490" y="6641753"/>
            <a:ext cx="3108871" cy="1897112"/>
          </a:xfrm>
          <a:prstGeom prst="roundRect">
            <a:avLst>
              <a:gd name="adj" fmla="val 10042"/>
            </a:avLst>
          </a:prstGeom>
          <a:ln w="1905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837140" y="6889403"/>
            <a:ext cx="2874928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837140" y="7279928"/>
            <a:ext cx="2691978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Статус приёма виден до выезда</a:t>
            </a:r>
            <a:endParaRPr lang="en-US" sz="1950" dirty="0"/>
          </a:p>
        </p:txBody>
      </p:sp>
      <p:sp>
        <p:nvSpPr>
          <p:cNvPr id="32" name="Shape 30"/>
          <p:cNvSpPr/>
          <p:nvPr/>
        </p:nvSpPr>
        <p:spPr>
          <a:xfrm>
            <a:off x="10850761" y="6641753"/>
            <a:ext cx="3109020" cy="1897112"/>
          </a:xfrm>
          <a:prstGeom prst="roundRect">
            <a:avLst>
              <a:gd name="adj" fmla="val 10042"/>
            </a:avLst>
          </a:prstGeom>
          <a:ln w="9525">
            <a:solidFill>
              <a:srgbClr val="D7D7D9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1088886" y="6879878"/>
            <a:ext cx="2896046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11088886" y="7270403"/>
            <a:ext cx="2896046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strike="sngStrike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Смета вручную</a:t>
            </a:r>
            <a:endParaRPr lang="en-US" sz="1950" dirty="0"/>
          </a:p>
        </p:txBody>
      </p:sp>
      <p:sp>
        <p:nvSpPr>
          <p:cNvPr id="35" name="Text 33"/>
          <p:cNvSpPr/>
          <p:nvPr/>
        </p:nvSpPr>
        <p:spPr>
          <a:xfrm>
            <a:off x="11088886" y="7706618"/>
            <a:ext cx="2711753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Предложение выпускает сервис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14112180" y="6641753"/>
            <a:ext cx="3108871" cy="1897112"/>
          </a:xfrm>
          <a:prstGeom prst="roundRect">
            <a:avLst>
              <a:gd name="adj" fmla="val 10042"/>
            </a:avLst>
          </a:prstGeom>
          <a:ln w="19050">
            <a:solidFill>
              <a:srgbClr val="11111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4359830" y="6889403"/>
            <a:ext cx="2874928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14359830" y="7279928"/>
            <a:ext cx="2874928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Выбор полигона</a:t>
            </a:r>
            <a:endParaRPr lang="en-US" sz="1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2502649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Главный сценарий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200120" y="685800"/>
            <a:ext cx="10972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6/12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66800" y="1266825"/>
            <a:ext cx="17769840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391"/>
              </a:lnSpc>
              <a:buNone/>
            </a:pPr>
            <a:r>
              <a:rPr lang="en-US" sz="4500" b="1" spc="-45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 адреса до коммерческого предложения за пять шагов</a:t>
            </a:r>
            <a:endParaRPr lang="en-US" sz="4500" dirty="0"/>
          </a:p>
        </p:txBody>
      </p:sp>
      <p:sp>
        <p:nvSpPr>
          <p:cNvPr id="5" name="Shape 3"/>
          <p:cNvSpPr/>
          <p:nvPr/>
        </p:nvSpPr>
        <p:spPr>
          <a:xfrm>
            <a:off x="1066800" y="2287786"/>
            <a:ext cx="3048000" cy="4000500"/>
          </a:xfrm>
          <a:prstGeom prst="roundRect">
            <a:avLst>
              <a:gd name="adj" fmla="val 6250"/>
            </a:avLst>
          </a:prstGeom>
          <a:solidFill>
            <a:srgbClr val="EDECF0"/>
          </a:solidFill>
          <a:ln/>
        </p:spPr>
      </p:sp>
      <p:pic>
        <p:nvPicPr>
          <p:cNvPr id="28" name="Снимок 1" descr="Снимок шага 1: адрес вывоза с подсказкой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3480" y="2440186"/>
            <a:ext cx="2834640" cy="3733800"/>
          </a:xfrm>
          <a:prstGeom prst="roundRect">
            <a:avLst>
              <a:gd name="adj" fmla="val 6250"/>
            </a:avLst>
          </a:prstGeom>
        </p:spPr>
      </p:pic>
      <p:sp>
        <p:nvSpPr>
          <p:cNvPr id="7" name="Text 5"/>
          <p:cNvSpPr/>
          <p:nvPr/>
        </p:nvSpPr>
        <p:spPr>
          <a:xfrm>
            <a:off x="1066800" y="6440686"/>
            <a:ext cx="33528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Адрес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066800" y="6888361"/>
            <a:ext cx="3139440" cy="9292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3A3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Выбирается из подсказки, расчёт идёт по координатам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343400" y="2287786"/>
            <a:ext cx="3048000" cy="4000500"/>
          </a:xfrm>
          <a:prstGeom prst="roundRect">
            <a:avLst>
              <a:gd name="adj" fmla="val 6250"/>
            </a:avLst>
          </a:prstGeom>
          <a:solidFill>
            <a:srgbClr val="EDECF0"/>
          </a:solidFill>
          <a:ln/>
        </p:spPr>
      </p:sp>
      <p:pic>
        <p:nvPicPr>
          <p:cNvPr id="29" name="Снимок 2" descr="Снимок шага 2: тип отходов и объём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0080" y="2440186"/>
            <a:ext cx="2834640" cy="3733800"/>
          </a:xfrm>
          <a:prstGeom prst="roundRect">
            <a:avLst>
              <a:gd name="adj" fmla="val 6250"/>
            </a:avLst>
          </a:prstGeom>
        </p:spPr>
      </p:pic>
      <p:sp>
        <p:nvSpPr>
          <p:cNvPr id="11" name="Text 9"/>
          <p:cNvSpPr/>
          <p:nvPr/>
        </p:nvSpPr>
        <p:spPr>
          <a:xfrm>
            <a:off x="4343400" y="6440686"/>
            <a:ext cx="33528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Отходы и объём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4343400" y="6888361"/>
            <a:ext cx="3139440" cy="9292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3A3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тоннах или кубометрах, в тонны переводит сервер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620000" y="2287786"/>
            <a:ext cx="3048000" cy="4000500"/>
          </a:xfrm>
          <a:prstGeom prst="roundRect">
            <a:avLst>
              <a:gd name="adj" fmla="val 6250"/>
            </a:avLst>
          </a:prstGeom>
          <a:solidFill>
            <a:srgbClr val="EDECF0"/>
          </a:solidFill>
          <a:ln/>
        </p:spPr>
      </p:sp>
      <p:pic>
        <p:nvPicPr>
          <p:cNvPr id="30" name="Снимок 3" descr="Снимок шага 3: расчёт по полигонам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2440186"/>
            <a:ext cx="2834640" cy="3733800"/>
          </a:xfrm>
          <a:prstGeom prst="roundRect">
            <a:avLst>
              <a:gd name="adj" fmla="val 6250"/>
            </a:avLst>
          </a:prstGeom>
        </p:spPr>
      </p:pic>
      <p:sp>
        <p:nvSpPr>
          <p:cNvPr id="15" name="Text 13"/>
          <p:cNvSpPr/>
          <p:nvPr/>
        </p:nvSpPr>
        <p:spPr>
          <a:xfrm>
            <a:off x="7620000" y="6440686"/>
            <a:ext cx="33528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Расчёт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7620000" y="6888361"/>
            <a:ext cx="3139440" cy="9292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3A3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Перевозка и утилизация отдельно, у полигона статус и дата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0896600" y="2287786"/>
            <a:ext cx="3048000" cy="4000500"/>
          </a:xfrm>
          <a:prstGeom prst="roundRect">
            <a:avLst>
              <a:gd name="adj" fmla="val 6250"/>
            </a:avLst>
          </a:prstGeom>
          <a:solidFill>
            <a:srgbClr val="EDECF0"/>
          </a:solidFill>
          <a:ln/>
        </p:spPr>
      </p:sp>
      <p:pic>
        <p:nvPicPr>
          <p:cNvPr id="31" name="Снимок 4" descr="Снимок шага 4: сортировка и предел расстояния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03280" y="2440186"/>
            <a:ext cx="2834640" cy="3733800"/>
          </a:xfrm>
          <a:prstGeom prst="roundRect">
            <a:avLst>
              <a:gd name="adj" fmla="val 6250"/>
            </a:avLst>
          </a:prstGeom>
        </p:spPr>
      </p:pic>
      <p:sp>
        <p:nvSpPr>
          <p:cNvPr id="19" name="Text 17"/>
          <p:cNvSpPr/>
          <p:nvPr/>
        </p:nvSpPr>
        <p:spPr>
          <a:xfrm>
            <a:off x="10896600" y="6440686"/>
            <a:ext cx="33528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Сравнение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10896600" y="6888361"/>
            <a:ext cx="3139440" cy="12263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3A3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Сортировка, предел расстояния, объём делится между полигонами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4173200" y="2287786"/>
            <a:ext cx="3048000" cy="4000500"/>
          </a:xfrm>
          <a:prstGeom prst="roundRect">
            <a:avLst>
              <a:gd name="adj" fmla="val 6250"/>
            </a:avLst>
          </a:prstGeom>
          <a:solidFill>
            <a:srgbClr val="EDECF0"/>
          </a:solidFill>
          <a:ln/>
        </p:spPr>
      </p:sp>
      <p:pic>
        <p:nvPicPr>
          <p:cNvPr id="32" name="Снимок 5" descr="Снимок шага 5: коммерческое предложение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279880" y="2440186"/>
            <a:ext cx="2834640" cy="3733800"/>
          </a:xfrm>
          <a:prstGeom prst="roundRect">
            <a:avLst>
              <a:gd name="adj" fmla="val 6250"/>
            </a:avLst>
          </a:prstGeom>
        </p:spPr>
      </p:pic>
      <p:sp>
        <p:nvSpPr>
          <p:cNvPr id="23" name="Text 21"/>
          <p:cNvSpPr/>
          <p:nvPr/>
        </p:nvSpPr>
        <p:spPr>
          <a:xfrm>
            <a:off x="14173200" y="6440686"/>
            <a:ext cx="33528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Предложение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14173200" y="6888361"/>
            <a:ext cx="3139440" cy="12263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3A3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Документ с номером и датой, повторное нажатие не создаёт копию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1066800" y="9201150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26" name="Text 24"/>
          <p:cNvSpPr/>
          <p:nvPr/>
        </p:nvSpPr>
        <p:spPr>
          <a:xfrm>
            <a:off x="1066800" y="9410700"/>
            <a:ext cx="4370591" cy="30480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Стоимость = перевозка + утилизация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421064" y="9401175"/>
            <a:ext cx="12240667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3A3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Перевозка: масса × цена т·км × расстояние по дорогам. Утилизация: масса × тариф полигона.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1253579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Роль MAX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200120" y="685800"/>
            <a:ext cx="10972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7/12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66800" y="1266825"/>
            <a:ext cx="14716125" cy="13180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391"/>
              </a:lnSpc>
              <a:buNone/>
            </a:pPr>
            <a:r>
              <a:rPr lang="en-US" sz="4500" b="1" spc="-45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Чат-бот отвечает на короткие вопросы, расчёт идёт в мини-приложении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1066800" y="3003947"/>
            <a:ext cx="8005572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Чат-бот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1066800" y="3518297"/>
            <a:ext cx="7772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7" name="Text 5"/>
          <p:cNvSpPr/>
          <p:nvPr/>
        </p:nvSpPr>
        <p:spPr>
          <a:xfrm>
            <a:off x="1066800" y="3718322"/>
            <a:ext cx="6487665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Кнопка запуска мини-приложения и список команд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7594104" y="3718322"/>
            <a:ext cx="1245096" cy="333375"/>
          </a:xfrm>
          <a:prstGeom prst="roundRect">
            <a:avLst>
              <a:gd name="adj" fmla="val 17143"/>
            </a:avLst>
          </a:prstGeom>
          <a:ln w="9525">
            <a:solidFill>
              <a:srgbClr val="11111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98879" y="3746897"/>
            <a:ext cx="1160056" cy="31432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Сделано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066800" y="4552652"/>
            <a:ext cx="7772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1" name="Text 9"/>
          <p:cNvSpPr/>
          <p:nvPr/>
        </p:nvSpPr>
        <p:spPr>
          <a:xfrm>
            <a:off x="1066800" y="4752677"/>
            <a:ext cx="6080224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Примерная стоимость по адресу и объёму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7594104" y="4752677"/>
            <a:ext cx="1245096" cy="333375"/>
          </a:xfrm>
          <a:prstGeom prst="roundRect">
            <a:avLst>
              <a:gd name="adj" fmla="val 17143"/>
            </a:avLst>
          </a:prstGeom>
          <a:ln w="9525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98879" y="4781252"/>
            <a:ext cx="1160056" cy="31432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Сделано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066800" y="5276552"/>
            <a:ext cx="7772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5" name="Text 13"/>
          <p:cNvSpPr/>
          <p:nvPr/>
        </p:nvSpPr>
        <p:spPr>
          <a:xfrm>
            <a:off x="1066800" y="5476577"/>
            <a:ext cx="6487665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Справка о тарифе и плотности с датой обновления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7594104" y="5476577"/>
            <a:ext cx="1245096" cy="333375"/>
          </a:xfrm>
          <a:prstGeom prst="roundRect">
            <a:avLst>
              <a:gd name="adj" fmla="val 17143"/>
            </a:avLst>
          </a:prstGeom>
          <a:ln w="9525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98879" y="5505152"/>
            <a:ext cx="1160056" cy="31432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Сделано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066800" y="7034808"/>
            <a:ext cx="7772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9" name="Shape 17"/>
          <p:cNvSpPr/>
          <p:nvPr/>
        </p:nvSpPr>
        <p:spPr>
          <a:xfrm>
            <a:off x="1066800" y="6310908"/>
            <a:ext cx="7772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20" name="Text 18"/>
          <p:cNvSpPr/>
          <p:nvPr/>
        </p:nvSpPr>
        <p:spPr>
          <a:xfrm>
            <a:off x="1066800" y="6510933"/>
            <a:ext cx="598248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Сообщение, когда меняется статус заявки</a:t>
            </a:r>
            <a:endParaRPr lang="en-US" sz="1950" dirty="0"/>
          </a:p>
        </p:txBody>
      </p:sp>
      <p:sp>
        <p:nvSpPr>
          <p:cNvPr id="21" name="Shape 19"/>
          <p:cNvSpPr/>
          <p:nvPr/>
        </p:nvSpPr>
        <p:spPr>
          <a:xfrm>
            <a:off x="7594104" y="6510933"/>
            <a:ext cx="1245096" cy="333375"/>
          </a:xfrm>
          <a:prstGeom prst="roundRect">
            <a:avLst>
              <a:gd name="adj" fmla="val 17143"/>
            </a:avLst>
          </a:prstGeom>
          <a:ln w="9525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698879" y="6539508"/>
            <a:ext cx="1160056" cy="31432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Сделано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448800" y="3003947"/>
            <a:ext cx="8005572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Мини-приложение</a:t>
            </a:r>
            <a:endParaRPr lang="en-US" sz="2250" dirty="0"/>
          </a:p>
        </p:txBody>
      </p:sp>
      <p:sp>
        <p:nvSpPr>
          <p:cNvPr id="24" name="Shape 22"/>
          <p:cNvSpPr/>
          <p:nvPr/>
        </p:nvSpPr>
        <p:spPr>
          <a:xfrm>
            <a:off x="9448800" y="3518297"/>
            <a:ext cx="7772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25" name="Text 23"/>
          <p:cNvSpPr/>
          <p:nvPr/>
        </p:nvSpPr>
        <p:spPr>
          <a:xfrm>
            <a:off x="9448800" y="3718322"/>
            <a:ext cx="6723772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Форма расчёта с несколькими видами отходов</a:t>
            </a:r>
            <a:endParaRPr lang="en-US" sz="1950" dirty="0"/>
          </a:p>
        </p:txBody>
      </p:sp>
      <p:sp>
        <p:nvSpPr>
          <p:cNvPr id="26" name="Shape 24"/>
          <p:cNvSpPr/>
          <p:nvPr/>
        </p:nvSpPr>
        <p:spPr>
          <a:xfrm>
            <a:off x="15976104" y="3718322"/>
            <a:ext cx="1245096" cy="333375"/>
          </a:xfrm>
          <a:prstGeom prst="roundRect">
            <a:avLst>
              <a:gd name="adj" fmla="val 17143"/>
            </a:avLst>
          </a:prstGeom>
          <a:ln w="9525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6080879" y="3746897"/>
            <a:ext cx="1160056" cy="31432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Сделано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448800" y="4242197"/>
            <a:ext cx="7772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29" name="Text 27"/>
          <p:cNvSpPr/>
          <p:nvPr/>
        </p:nvSpPr>
        <p:spPr>
          <a:xfrm>
            <a:off x="9448800" y="4442222"/>
            <a:ext cx="6487665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Сравнение полигонов по цене, статусу и расстоянию</a:t>
            </a:r>
            <a:endParaRPr lang="en-US" sz="1950" dirty="0"/>
          </a:p>
        </p:txBody>
      </p:sp>
      <p:sp>
        <p:nvSpPr>
          <p:cNvPr id="30" name="Shape 28"/>
          <p:cNvSpPr/>
          <p:nvPr/>
        </p:nvSpPr>
        <p:spPr>
          <a:xfrm>
            <a:off x="15976104" y="4442222"/>
            <a:ext cx="1245096" cy="333375"/>
          </a:xfrm>
          <a:prstGeom prst="roundRect">
            <a:avLst>
              <a:gd name="adj" fmla="val 17143"/>
            </a:avLst>
          </a:prstGeom>
          <a:ln w="9525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6080879" y="4470797"/>
            <a:ext cx="1160056" cy="31432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Сделано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9448800" y="5276552"/>
            <a:ext cx="7772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33" name="Text 31"/>
          <p:cNvSpPr/>
          <p:nvPr/>
        </p:nvSpPr>
        <p:spPr>
          <a:xfrm>
            <a:off x="9448800" y="5476577"/>
            <a:ext cx="6793513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Распределение объёма и выпуск предложения</a:t>
            </a:r>
            <a:endParaRPr lang="en-US" sz="1950" dirty="0"/>
          </a:p>
        </p:txBody>
      </p:sp>
      <p:sp>
        <p:nvSpPr>
          <p:cNvPr id="34" name="Shape 32"/>
          <p:cNvSpPr/>
          <p:nvPr/>
        </p:nvSpPr>
        <p:spPr>
          <a:xfrm>
            <a:off x="15976104" y="5476577"/>
            <a:ext cx="1245096" cy="333375"/>
          </a:xfrm>
          <a:prstGeom prst="roundRect">
            <a:avLst>
              <a:gd name="adj" fmla="val 17143"/>
            </a:avLst>
          </a:prstGeom>
          <a:ln w="9525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6080879" y="5505152"/>
            <a:ext cx="1160056" cy="31432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Сделано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9448800" y="6724352"/>
            <a:ext cx="7772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37" name="Shape 35"/>
          <p:cNvSpPr/>
          <p:nvPr/>
        </p:nvSpPr>
        <p:spPr>
          <a:xfrm>
            <a:off x="9448800" y="6000452"/>
            <a:ext cx="7772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38" name="Text 36"/>
          <p:cNvSpPr/>
          <p:nvPr/>
        </p:nvSpPr>
        <p:spPr>
          <a:xfrm>
            <a:off x="9448800" y="6200477"/>
            <a:ext cx="3906634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Маршрут и детали поездки</a:t>
            </a:r>
            <a:endParaRPr lang="en-US" sz="1950" dirty="0"/>
          </a:p>
        </p:txBody>
      </p:sp>
      <p:sp>
        <p:nvSpPr>
          <p:cNvPr id="39" name="Shape 37"/>
          <p:cNvSpPr/>
          <p:nvPr/>
        </p:nvSpPr>
        <p:spPr>
          <a:xfrm>
            <a:off x="15976104" y="6200477"/>
            <a:ext cx="1245096" cy="333375"/>
          </a:xfrm>
          <a:prstGeom prst="roundRect">
            <a:avLst>
              <a:gd name="adj" fmla="val 17143"/>
            </a:avLst>
          </a:prstGeom>
          <a:ln w="9525">
            <a:solidFill>
              <a:srgbClr val="11111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6080879" y="6229052"/>
            <a:ext cx="1160056" cy="31432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Сделано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996851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Эффект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200120" y="685800"/>
            <a:ext cx="10972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8/12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66800" y="1266825"/>
            <a:ext cx="16639032" cy="13180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391"/>
              </a:lnSpc>
              <a:buNone/>
            </a:pPr>
            <a:r>
              <a:rPr lang="en-US" sz="4500" b="1" spc="-45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ИМОЛТ коммерческое предложение готово за 2 минуты вместо 40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1066800" y="2851547"/>
            <a:ext cx="14716125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529"/>
              </a:lnSpc>
              <a:buNone/>
            </a:pPr>
            <a:r>
              <a:rPr lang="en-US" sz="22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Перевозчик считает рейс в мини-приложении по справочнику с датами обновления. Звонить на полигоны и собирать смету вручную больше не нужно.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1066800" y="6400800"/>
            <a:ext cx="1010031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Показатель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477500" y="6400800"/>
            <a:ext cx="188595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Единица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420600" y="6400800"/>
            <a:ext cx="29337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 ИМОЛТ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5316200" y="6400800"/>
            <a:ext cx="20955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ИМОЛТ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066800" y="6810375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1" name="Text 9"/>
          <p:cNvSpPr/>
          <p:nvPr/>
        </p:nvSpPr>
        <p:spPr>
          <a:xfrm>
            <a:off x="1066800" y="7011293"/>
            <a:ext cx="10100310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Время от запроса до готового предложения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0477500" y="7019925"/>
            <a:ext cx="188595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минуты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12420600" y="7010400"/>
            <a:ext cx="293370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15316200" y="7010400"/>
            <a:ext cx="325041" cy="323850"/>
          </a:xfrm>
          <a:prstGeom prst="roundRect">
            <a:avLst>
              <a:gd name="adj" fmla="val 17647"/>
            </a:avLst>
          </a:prstGeom>
          <a:solidFill>
            <a:srgbClr val="E7F53D"/>
          </a:solidFill>
          <a:ln/>
        </p:spPr>
      </p:sp>
      <p:sp>
        <p:nvSpPr>
          <p:cNvPr id="15" name="Text 13"/>
          <p:cNvSpPr/>
          <p:nvPr/>
        </p:nvSpPr>
        <p:spPr>
          <a:xfrm>
            <a:off x="15392400" y="7010400"/>
            <a:ext cx="205145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1066800" y="7524750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7" name="Text 15"/>
          <p:cNvSpPr/>
          <p:nvPr/>
        </p:nvSpPr>
        <p:spPr>
          <a:xfrm>
            <a:off x="1066800" y="7725668"/>
            <a:ext cx="10100310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Звонков на полигоны на один расчёт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0477500" y="7734300"/>
            <a:ext cx="188595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штук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12420600" y="7724775"/>
            <a:ext cx="293370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15316200" y="7724775"/>
            <a:ext cx="325041" cy="323850"/>
          </a:xfrm>
          <a:prstGeom prst="roundRect">
            <a:avLst>
              <a:gd name="adj" fmla="val 17647"/>
            </a:avLst>
          </a:prstGeom>
          <a:solidFill>
            <a:srgbClr val="E7F53D"/>
          </a:solidFill>
          <a:ln/>
        </p:spPr>
      </p:sp>
      <p:sp>
        <p:nvSpPr>
          <p:cNvPr id="21" name="Text 19"/>
          <p:cNvSpPr/>
          <p:nvPr/>
        </p:nvSpPr>
        <p:spPr>
          <a:xfrm>
            <a:off x="15392400" y="7724775"/>
            <a:ext cx="205145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1066800" y="8239125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23" name="Text 21"/>
          <p:cNvSpPr/>
          <p:nvPr/>
        </p:nvSpPr>
        <p:spPr>
          <a:xfrm>
            <a:off x="1066800" y="8440043"/>
            <a:ext cx="10100310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Расчётов по данным старше семи дней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10477500" y="8448675"/>
            <a:ext cx="188595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1950" dirty="0"/>
          </a:p>
        </p:txBody>
      </p:sp>
      <p:sp>
        <p:nvSpPr>
          <p:cNvPr id="25" name="Text 23"/>
          <p:cNvSpPr/>
          <p:nvPr/>
        </p:nvSpPr>
        <p:spPr>
          <a:xfrm>
            <a:off x="12420600" y="8439150"/>
            <a:ext cx="293370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15316200" y="8439150"/>
            <a:ext cx="325041" cy="323850"/>
          </a:xfrm>
          <a:prstGeom prst="roundRect">
            <a:avLst>
              <a:gd name="adj" fmla="val 17647"/>
            </a:avLst>
          </a:prstGeom>
          <a:solidFill>
            <a:srgbClr val="E7F53D"/>
          </a:solidFill>
          <a:ln/>
        </p:spPr>
      </p:sp>
      <p:sp>
        <p:nvSpPr>
          <p:cNvPr id="27" name="Text 25"/>
          <p:cNvSpPr/>
          <p:nvPr/>
        </p:nvSpPr>
        <p:spPr>
          <a:xfrm>
            <a:off x="15392400" y="8439150"/>
            <a:ext cx="205145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100" dirty="0"/>
          </a:p>
        </p:txBody>
      </p:sp>
      <p:sp>
        <p:nvSpPr>
          <p:cNvPr id="28" name="Shape 26"/>
          <p:cNvSpPr/>
          <p:nvPr/>
        </p:nvSpPr>
        <p:spPr>
          <a:xfrm>
            <a:off x="1066800" y="9667875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29" name="Shape 27"/>
          <p:cNvSpPr/>
          <p:nvPr/>
        </p:nvSpPr>
        <p:spPr>
          <a:xfrm>
            <a:off x="1066800" y="8953500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30" name="Text 28"/>
          <p:cNvSpPr/>
          <p:nvPr/>
        </p:nvSpPr>
        <p:spPr>
          <a:xfrm>
            <a:off x="1066800" y="9154418"/>
            <a:ext cx="10100310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Шагов до готового предложения</a:t>
            </a:r>
            <a:endParaRPr lang="en-US" sz="1950" dirty="0"/>
          </a:p>
        </p:txBody>
      </p:sp>
      <p:sp>
        <p:nvSpPr>
          <p:cNvPr id="31" name="Text 29"/>
          <p:cNvSpPr/>
          <p:nvPr/>
        </p:nvSpPr>
        <p:spPr>
          <a:xfrm>
            <a:off x="10477500" y="9163050"/>
            <a:ext cx="188595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штук</a:t>
            </a:r>
            <a:endParaRPr lang="en-US" sz="1950" dirty="0"/>
          </a:p>
        </p:txBody>
      </p:sp>
      <p:sp>
        <p:nvSpPr>
          <p:cNvPr id="32" name="Text 30"/>
          <p:cNvSpPr/>
          <p:nvPr/>
        </p:nvSpPr>
        <p:spPr>
          <a:xfrm>
            <a:off x="12420600" y="9153525"/>
            <a:ext cx="293370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100" dirty="0"/>
          </a:p>
        </p:txBody>
      </p:sp>
      <p:sp>
        <p:nvSpPr>
          <p:cNvPr id="33" name="Shape 31"/>
          <p:cNvSpPr/>
          <p:nvPr/>
        </p:nvSpPr>
        <p:spPr>
          <a:xfrm>
            <a:off x="15316200" y="9153525"/>
            <a:ext cx="325041" cy="323850"/>
          </a:xfrm>
          <a:prstGeom prst="roundRect">
            <a:avLst>
              <a:gd name="adj" fmla="val 17647"/>
            </a:avLst>
          </a:prstGeom>
          <a:solidFill>
            <a:srgbClr val="E7F53D"/>
          </a:solidFill>
          <a:ln/>
        </p:spPr>
      </p:sp>
      <p:sp>
        <p:nvSpPr>
          <p:cNvPr id="34" name="Text 32"/>
          <p:cNvSpPr/>
          <p:nvPr/>
        </p:nvSpPr>
        <p:spPr>
          <a:xfrm>
            <a:off x="15392400" y="9153525"/>
            <a:ext cx="205145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1681802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Архитектура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200120" y="685800"/>
            <a:ext cx="10972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9/12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66800" y="1266825"/>
            <a:ext cx="16639032" cy="13180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391"/>
              </a:lnSpc>
              <a:buNone/>
            </a:pPr>
            <a:r>
              <a:rPr lang="en-US" sz="4500" b="1" spc="-45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ИМОЛТ состоит из четырёх служб и работает через платформу MAX</a:t>
            </a:r>
            <a:endParaRPr lang="en-US" sz="4500" dirty="0"/>
          </a:p>
        </p:txBody>
      </p:sp>
      <p:sp>
        <p:nvSpPr>
          <p:cNvPr id="5" name="Shape 3"/>
          <p:cNvSpPr/>
          <p:nvPr/>
        </p:nvSpPr>
        <p:spPr>
          <a:xfrm>
            <a:off x="7734300" y="3156347"/>
            <a:ext cx="6286500" cy="5905500"/>
          </a:xfrm>
          <a:prstGeom prst="roundRect">
            <a:avLst>
              <a:gd name="adj" fmla="val 3226"/>
            </a:avLst>
          </a:prstGeom>
          <a:ln w="28575">
            <a:solidFill>
              <a:srgbClr val="E7F5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34300" y="2737247"/>
            <a:ext cx="1048345" cy="304800"/>
          </a:xfrm>
          <a:prstGeom prst="roundRect">
            <a:avLst>
              <a:gd name="adj" fmla="val 18750"/>
            </a:avLst>
          </a:prstGeom>
          <a:solidFill>
            <a:srgbClr val="E7F53D"/>
          </a:solidFill>
          <a:ln/>
        </p:spPr>
      </p:sp>
      <p:sp>
        <p:nvSpPr>
          <p:cNvPr id="7" name="Text 5"/>
          <p:cNvSpPr/>
          <p:nvPr/>
        </p:nvSpPr>
        <p:spPr>
          <a:xfrm>
            <a:off x="7848600" y="2756297"/>
            <a:ext cx="92458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ИМОЛТ</a:t>
            </a:r>
            <a:endParaRPr lang="en-US" sz="18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6800" y="3156347"/>
            <a:ext cx="16154400" cy="59055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066800" y="3537347"/>
            <a:ext cx="2286000" cy="123825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11111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238250" y="3689747"/>
            <a:ext cx="213741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Человек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238250" y="4004072"/>
            <a:ext cx="2019300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839"/>
              </a:lnSpc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Перевозчик или заказчик</a:t>
            </a:r>
            <a:endParaRPr lang="en-US" sz="1950" dirty="0"/>
          </a:p>
        </p:txBody>
      </p:sp>
      <p:sp>
        <p:nvSpPr>
          <p:cNvPr id="12" name="Shape 9"/>
          <p:cNvSpPr/>
          <p:nvPr/>
        </p:nvSpPr>
        <p:spPr>
          <a:xfrm>
            <a:off x="1066800" y="7633097"/>
            <a:ext cx="2286000" cy="123825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11111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238250" y="7785497"/>
            <a:ext cx="213741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Человек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1238250" y="8099822"/>
            <a:ext cx="2019300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839"/>
              </a:lnSpc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Менеджер данных</a:t>
            </a:r>
            <a:endParaRPr lang="en-US" sz="1950" dirty="0"/>
          </a:p>
        </p:txBody>
      </p:sp>
      <p:sp>
        <p:nvSpPr>
          <p:cNvPr id="15" name="Shape 12"/>
          <p:cNvSpPr/>
          <p:nvPr/>
        </p:nvSpPr>
        <p:spPr>
          <a:xfrm>
            <a:off x="4876800" y="3537347"/>
            <a:ext cx="2286000" cy="1238250"/>
          </a:xfrm>
          <a:prstGeom prst="roundRect">
            <a:avLst>
              <a:gd name="adj" fmla="val 15385"/>
            </a:avLst>
          </a:prstGeom>
          <a:solidFill>
            <a:srgbClr val="F5F4F7"/>
          </a:solidFill>
          <a:ln w="9525">
            <a:solidFill>
              <a:srgbClr val="D7D7D9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038725" y="3706416"/>
            <a:ext cx="2038350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Внешняя система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5038725" y="4296966"/>
            <a:ext cx="215836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839"/>
              </a:lnSpc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Платформа MAX</a:t>
            </a:r>
            <a:endParaRPr lang="en-US" sz="1950" dirty="0"/>
          </a:p>
        </p:txBody>
      </p:sp>
      <p:sp>
        <p:nvSpPr>
          <p:cNvPr id="18" name="Shape 15"/>
          <p:cNvSpPr/>
          <p:nvPr/>
        </p:nvSpPr>
        <p:spPr>
          <a:xfrm>
            <a:off x="8496300" y="3537347"/>
            <a:ext cx="2095500" cy="123825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11111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667750" y="3665934"/>
            <a:ext cx="192786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miniapp</a:t>
            </a:r>
            <a:endParaRPr lang="en-US" sz="1950" dirty="0"/>
          </a:p>
        </p:txBody>
      </p:sp>
      <p:sp>
        <p:nvSpPr>
          <p:cNvPr id="20" name="Text 17"/>
          <p:cNvSpPr/>
          <p:nvPr/>
        </p:nvSpPr>
        <p:spPr>
          <a:xfrm>
            <a:off x="8667750" y="4037409"/>
            <a:ext cx="192786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19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8667750" y="4361259"/>
            <a:ext cx="192786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nginx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8496300" y="5537597"/>
            <a:ext cx="2095500" cy="123825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111111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667750" y="5666184"/>
            <a:ext cx="192786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bot</a:t>
            </a:r>
            <a:endParaRPr lang="en-US" sz="1950" dirty="0"/>
          </a:p>
        </p:txBody>
      </p:sp>
      <p:sp>
        <p:nvSpPr>
          <p:cNvPr id="24" name="Text 21"/>
          <p:cNvSpPr/>
          <p:nvPr/>
        </p:nvSpPr>
        <p:spPr>
          <a:xfrm>
            <a:off x="8667750" y="6037659"/>
            <a:ext cx="192786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.NET 10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8667750" y="6361509"/>
            <a:ext cx="192786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чат-бот MAX</a:t>
            </a:r>
            <a:endParaRPr lang="en-US" sz="1800" dirty="0"/>
          </a:p>
        </p:txBody>
      </p:sp>
      <p:sp>
        <p:nvSpPr>
          <p:cNvPr id="26" name="Shape 23"/>
          <p:cNvSpPr/>
          <p:nvPr/>
        </p:nvSpPr>
        <p:spPr>
          <a:xfrm>
            <a:off x="11544300" y="3537347"/>
            <a:ext cx="2286000" cy="32385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9050">
            <a:solidFill>
              <a:srgbClr val="11111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1715750" y="4056459"/>
            <a:ext cx="213741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</a:t>
            </a:r>
            <a:endParaRPr lang="en-US" sz="1950" dirty="0"/>
          </a:p>
        </p:txBody>
      </p:sp>
      <p:sp>
        <p:nvSpPr>
          <p:cNvPr id="28" name="Text 25"/>
          <p:cNvSpPr/>
          <p:nvPr/>
        </p:nvSpPr>
        <p:spPr>
          <a:xfrm>
            <a:off x="11715750" y="4427934"/>
            <a:ext cx="213741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.NET 10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11715750" y="4751784"/>
            <a:ext cx="213741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ASP.NET Core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11715750" y="5075634"/>
            <a:ext cx="2019300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расчёт, справочники, предложение</a:t>
            </a:r>
            <a:endParaRPr lang="en-US" sz="1800" dirty="0"/>
          </a:p>
        </p:txBody>
      </p:sp>
      <p:sp>
        <p:nvSpPr>
          <p:cNvPr id="31" name="Text 28"/>
          <p:cNvSpPr/>
          <p:nvPr/>
        </p:nvSpPr>
        <p:spPr>
          <a:xfrm>
            <a:off x="11715750" y="5970984"/>
            <a:ext cx="213741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операции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11544300" y="7728347"/>
            <a:ext cx="2286000" cy="1295400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9050">
            <a:solidFill>
              <a:srgbClr val="111111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11715750" y="7742634"/>
            <a:ext cx="213741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</a:t>
            </a:r>
            <a:endParaRPr lang="en-US" sz="1950" dirty="0"/>
          </a:p>
        </p:txBody>
      </p:sp>
      <p:sp>
        <p:nvSpPr>
          <p:cNvPr id="34" name="Text 31"/>
          <p:cNvSpPr/>
          <p:nvPr/>
        </p:nvSpPr>
        <p:spPr>
          <a:xfrm>
            <a:off x="11715750" y="8114109"/>
            <a:ext cx="213741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17</a:t>
            </a:r>
            <a:endParaRPr lang="en-US" sz="1800" dirty="0"/>
          </a:p>
        </p:txBody>
      </p:sp>
      <p:sp>
        <p:nvSpPr>
          <p:cNvPr id="35" name="Text 32"/>
          <p:cNvSpPr/>
          <p:nvPr/>
        </p:nvSpPr>
        <p:spPr>
          <a:xfrm>
            <a:off x="11715750" y="8437959"/>
            <a:ext cx="2019300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справочники, заявки</a:t>
            </a:r>
            <a:endParaRPr lang="en-US" sz="1800" dirty="0"/>
          </a:p>
        </p:txBody>
      </p:sp>
      <p:sp>
        <p:nvSpPr>
          <p:cNvPr id="36" name="Shape 33"/>
          <p:cNvSpPr/>
          <p:nvPr/>
        </p:nvSpPr>
        <p:spPr>
          <a:xfrm>
            <a:off x="14973300" y="3537347"/>
            <a:ext cx="2247900" cy="1238250"/>
          </a:xfrm>
          <a:prstGeom prst="roundRect">
            <a:avLst>
              <a:gd name="adj" fmla="val 15385"/>
            </a:avLst>
          </a:prstGeom>
          <a:solidFill>
            <a:srgbClr val="F5F4F7"/>
          </a:solidFill>
          <a:ln w="9525">
            <a:solidFill>
              <a:srgbClr val="D7D7D9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15135225" y="3551634"/>
            <a:ext cx="2000250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Внешняя система</a:t>
            </a:r>
            <a:endParaRPr lang="en-US" sz="1800" dirty="0"/>
          </a:p>
        </p:txBody>
      </p:sp>
      <p:sp>
        <p:nvSpPr>
          <p:cNvPr id="38" name="Text 35"/>
          <p:cNvSpPr/>
          <p:nvPr/>
        </p:nvSpPr>
        <p:spPr>
          <a:xfrm>
            <a:off x="15135225" y="4142184"/>
            <a:ext cx="2000250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839"/>
              </a:lnSpc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Подсказки адресов</a:t>
            </a:r>
            <a:endParaRPr lang="en-US" sz="1950" dirty="0"/>
          </a:p>
        </p:txBody>
      </p:sp>
      <p:sp>
        <p:nvSpPr>
          <p:cNvPr id="39" name="Shape 36"/>
          <p:cNvSpPr/>
          <p:nvPr/>
        </p:nvSpPr>
        <p:spPr>
          <a:xfrm>
            <a:off x="14973300" y="5537597"/>
            <a:ext cx="2247900" cy="1238250"/>
          </a:xfrm>
          <a:prstGeom prst="roundRect">
            <a:avLst>
              <a:gd name="adj" fmla="val 15385"/>
            </a:avLst>
          </a:prstGeom>
          <a:solidFill>
            <a:srgbClr val="F5F4F7"/>
          </a:solidFill>
          <a:ln w="9525">
            <a:solidFill>
              <a:srgbClr val="D7D7D9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15135225" y="5551884"/>
            <a:ext cx="2000250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Внешняя система</a:t>
            </a:r>
            <a:endParaRPr lang="en-US" sz="1800" dirty="0"/>
          </a:p>
        </p:txBody>
      </p:sp>
      <p:sp>
        <p:nvSpPr>
          <p:cNvPr id="41" name="Text 38"/>
          <p:cNvSpPr/>
          <p:nvPr/>
        </p:nvSpPr>
        <p:spPr>
          <a:xfrm>
            <a:off x="15135225" y="6142434"/>
            <a:ext cx="2000250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839"/>
              </a:lnSpc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Карты и расстояния</a:t>
            </a:r>
            <a:endParaRPr lang="en-US" sz="1950" dirty="0"/>
          </a:p>
        </p:txBody>
      </p:sp>
      <p:sp>
        <p:nvSpPr>
          <p:cNvPr id="42" name="Shape 39"/>
          <p:cNvSpPr/>
          <p:nvPr/>
        </p:nvSpPr>
        <p:spPr>
          <a:xfrm>
            <a:off x="3467100" y="3823097"/>
            <a:ext cx="1432173" cy="2857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Text 40"/>
          <p:cNvSpPr/>
          <p:nvPr/>
        </p:nvSpPr>
        <p:spPr>
          <a:xfrm>
            <a:off x="3524250" y="3823097"/>
            <a:ext cx="1461090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3A3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пользуется</a:t>
            </a:r>
            <a:endParaRPr lang="en-US" sz="1800" dirty="0"/>
          </a:p>
        </p:txBody>
      </p:sp>
      <p:sp>
        <p:nvSpPr>
          <p:cNvPr id="44" name="Shape 41"/>
          <p:cNvSpPr/>
          <p:nvPr/>
        </p:nvSpPr>
        <p:spPr>
          <a:xfrm>
            <a:off x="7219950" y="3823097"/>
            <a:ext cx="1348829" cy="2857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2"/>
          <p:cNvSpPr/>
          <p:nvPr/>
        </p:nvSpPr>
        <p:spPr>
          <a:xfrm>
            <a:off x="7277100" y="3823097"/>
            <a:ext cx="1369412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3A3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открывает</a:t>
            </a:r>
            <a:endParaRPr lang="en-US" sz="1800" dirty="0"/>
          </a:p>
        </p:txBody>
      </p:sp>
      <p:sp>
        <p:nvSpPr>
          <p:cNvPr id="46" name="Shape 43"/>
          <p:cNvSpPr/>
          <p:nvPr/>
        </p:nvSpPr>
        <p:spPr>
          <a:xfrm>
            <a:off x="6515100" y="5328047"/>
            <a:ext cx="1585020" cy="2857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7" name="Text 44"/>
          <p:cNvSpPr/>
          <p:nvPr/>
        </p:nvSpPr>
        <p:spPr>
          <a:xfrm>
            <a:off x="6572250" y="5328047"/>
            <a:ext cx="1629221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3A3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обновления</a:t>
            </a:r>
            <a:endParaRPr lang="en-US" sz="1800" dirty="0"/>
          </a:p>
        </p:txBody>
      </p:sp>
      <p:sp>
        <p:nvSpPr>
          <p:cNvPr id="48" name="Shape 45"/>
          <p:cNvSpPr/>
          <p:nvPr/>
        </p:nvSpPr>
        <p:spPr>
          <a:xfrm>
            <a:off x="10763250" y="3823097"/>
            <a:ext cx="526852" cy="2857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9" name="Text 46"/>
          <p:cNvSpPr/>
          <p:nvPr/>
        </p:nvSpPr>
        <p:spPr>
          <a:xfrm>
            <a:off x="10820400" y="3823097"/>
            <a:ext cx="465237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3A3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/api</a:t>
            </a:r>
            <a:endParaRPr lang="en-US" sz="1800" dirty="0"/>
          </a:p>
        </p:txBody>
      </p:sp>
      <p:sp>
        <p:nvSpPr>
          <p:cNvPr id="50" name="Shape 47"/>
          <p:cNvSpPr/>
          <p:nvPr/>
        </p:nvSpPr>
        <p:spPr>
          <a:xfrm>
            <a:off x="10744200" y="5823347"/>
            <a:ext cx="729109" cy="2857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8"/>
          <p:cNvSpPr/>
          <p:nvPr/>
        </p:nvSpPr>
        <p:spPr>
          <a:xfrm>
            <a:off x="10801350" y="5823347"/>
            <a:ext cx="687720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3A3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</a:t>
            </a:r>
            <a:endParaRPr lang="en-US" sz="1800" dirty="0"/>
          </a:p>
        </p:txBody>
      </p:sp>
      <p:sp>
        <p:nvSpPr>
          <p:cNvPr id="52" name="Shape 49"/>
          <p:cNvSpPr/>
          <p:nvPr/>
        </p:nvSpPr>
        <p:spPr>
          <a:xfrm>
            <a:off x="12801600" y="7099697"/>
            <a:ext cx="581471" cy="2857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Text 50"/>
          <p:cNvSpPr/>
          <p:nvPr/>
        </p:nvSpPr>
        <p:spPr>
          <a:xfrm>
            <a:off x="12858750" y="7099697"/>
            <a:ext cx="525319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3A3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</a:t>
            </a:r>
            <a:endParaRPr lang="en-US" sz="1800" dirty="0"/>
          </a:p>
        </p:txBody>
      </p:sp>
      <p:sp>
        <p:nvSpPr>
          <p:cNvPr id="54" name="Shape 51"/>
          <p:cNvSpPr/>
          <p:nvPr/>
        </p:nvSpPr>
        <p:spPr>
          <a:xfrm>
            <a:off x="13982700" y="3823097"/>
            <a:ext cx="823317" cy="2857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5" name="Text 52"/>
          <p:cNvSpPr/>
          <p:nvPr/>
        </p:nvSpPr>
        <p:spPr>
          <a:xfrm>
            <a:off x="14039850" y="3823097"/>
            <a:ext cx="791349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3A3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адрес</a:t>
            </a:r>
            <a:endParaRPr lang="en-US" sz="1800" dirty="0"/>
          </a:p>
        </p:txBody>
      </p:sp>
      <p:sp>
        <p:nvSpPr>
          <p:cNvPr id="56" name="Shape 53"/>
          <p:cNvSpPr/>
          <p:nvPr/>
        </p:nvSpPr>
        <p:spPr>
          <a:xfrm>
            <a:off x="13849350" y="5823347"/>
            <a:ext cx="1186309" cy="2857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7" name="Text 54"/>
          <p:cNvSpPr/>
          <p:nvPr/>
        </p:nvSpPr>
        <p:spPr>
          <a:xfrm>
            <a:off x="13906500" y="5823347"/>
            <a:ext cx="1190640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3A3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маршрут</a:t>
            </a:r>
            <a:endParaRPr lang="en-US" sz="1800" dirty="0"/>
          </a:p>
        </p:txBody>
      </p:sp>
      <p:sp>
        <p:nvSpPr>
          <p:cNvPr id="58" name="Shape 55"/>
          <p:cNvSpPr/>
          <p:nvPr/>
        </p:nvSpPr>
        <p:spPr>
          <a:xfrm>
            <a:off x="3924300" y="7871222"/>
            <a:ext cx="2785170" cy="2857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9" name="Text 56"/>
          <p:cNvSpPr/>
          <p:nvPr/>
        </p:nvSpPr>
        <p:spPr>
          <a:xfrm>
            <a:off x="3981450" y="7871222"/>
            <a:ext cx="2949386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3A3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цены, тарифы, статусы</a:t>
            </a:r>
            <a:endParaRPr lang="en-US" sz="1800" dirty="0"/>
          </a:p>
        </p:txBody>
      </p:sp>
      <p:sp>
        <p:nvSpPr>
          <p:cNvPr id="60" name="Text 57"/>
          <p:cNvSpPr/>
          <p:nvPr/>
        </p:nvSpPr>
        <p:spPr>
          <a:xfrm>
            <a:off x="1066800" y="9290447"/>
            <a:ext cx="4512856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Уровень контейнеров, нотация C4</a:t>
            </a:r>
            <a:endParaRPr lang="en-US" sz="1800" dirty="0"/>
          </a:p>
        </p:txBody>
      </p:sp>
      <p:sp>
        <p:nvSpPr>
          <p:cNvPr id="61" name="Text 58"/>
          <p:cNvSpPr/>
          <p:nvPr/>
        </p:nvSpPr>
        <p:spPr>
          <a:xfrm>
            <a:off x="5626596" y="9290447"/>
            <a:ext cx="6052393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 службы в Docker, запуск одной командой:</a:t>
            </a:r>
            <a:endParaRPr lang="en-US" sz="1800" dirty="0"/>
          </a:p>
        </p:txBody>
      </p:sp>
      <p:sp>
        <p:nvSpPr>
          <p:cNvPr id="62" name="Text 59"/>
          <p:cNvSpPr/>
          <p:nvPr/>
        </p:nvSpPr>
        <p:spPr>
          <a:xfrm>
            <a:off x="11243072" y="9290447"/>
            <a:ext cx="37719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 --build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2523932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Масштабирование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200120" y="685800"/>
            <a:ext cx="10972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66800" y="1266825"/>
            <a:ext cx="14716125" cy="13180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391"/>
              </a:lnSpc>
              <a:buNone/>
            </a:pPr>
            <a:r>
              <a:rPr lang="en-US" sz="4500" b="1" spc="-45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Формула, модель данных и сценарий переносятся в новый регион без изменений</a:t>
            </a:r>
            <a:endParaRPr lang="en-US" sz="4500" dirty="0"/>
          </a:p>
        </p:txBody>
      </p:sp>
      <p:sp>
        <p:nvSpPr>
          <p:cNvPr id="5" name="Shape 3"/>
          <p:cNvSpPr/>
          <p:nvPr/>
        </p:nvSpPr>
        <p:spPr>
          <a:xfrm>
            <a:off x="1066800" y="3003947"/>
            <a:ext cx="7962900" cy="6673453"/>
          </a:xfrm>
          <a:prstGeom prst="roundRect">
            <a:avLst>
              <a:gd name="adj" fmla="val 2855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1447800" y="3384947"/>
            <a:ext cx="7416927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Ядро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1447800" y="3861197"/>
            <a:ext cx="7416927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Переносится как есть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447800" y="4289822"/>
            <a:ext cx="72009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9" name="Text 7"/>
          <p:cNvSpPr/>
          <p:nvPr/>
        </p:nvSpPr>
        <p:spPr>
          <a:xfrm>
            <a:off x="1447800" y="4451747"/>
            <a:ext cx="7416927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Формула стоимости и перевод объёма в массу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1447800" y="4926062"/>
            <a:ext cx="72009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1" name="Text 9"/>
          <p:cNvSpPr/>
          <p:nvPr/>
        </p:nvSpPr>
        <p:spPr>
          <a:xfrm>
            <a:off x="1447800" y="5087987"/>
            <a:ext cx="7416927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Модель данных и схема базы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1447800" y="5562302"/>
            <a:ext cx="72009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3" name="Text 11"/>
          <p:cNvSpPr/>
          <p:nvPr/>
        </p:nvSpPr>
        <p:spPr>
          <a:xfrm>
            <a:off x="1447800" y="5724227"/>
            <a:ext cx="7416927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Путь от адреса до коммерческого предложения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1447800" y="6198543"/>
            <a:ext cx="72009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5" name="Text 13"/>
          <p:cNvSpPr/>
          <p:nvPr/>
        </p:nvSpPr>
        <p:spPr>
          <a:xfrm>
            <a:off x="1447800" y="6360468"/>
            <a:ext cx="7416927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Четыре службы и договор API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1447800" y="6834783"/>
            <a:ext cx="72009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7" name="Text 15"/>
          <p:cNvSpPr/>
          <p:nvPr/>
        </p:nvSpPr>
        <p:spPr>
          <a:xfrm>
            <a:off x="1447800" y="6996708"/>
            <a:ext cx="7416927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Интерфейс расчёта и сравнения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9258300" y="3003947"/>
            <a:ext cx="7962900" cy="6673453"/>
          </a:xfrm>
          <a:prstGeom prst="roundRect">
            <a:avLst>
              <a:gd name="adj" fmla="val 2855"/>
            </a:avLst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9639300" y="3384947"/>
            <a:ext cx="7416927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Переменная часть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9639300" y="3861197"/>
            <a:ext cx="7416927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Настраивается под контекст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9639300" y="4289822"/>
            <a:ext cx="72009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22" name="Text 20"/>
          <p:cNvSpPr/>
          <p:nvPr/>
        </p:nvSpPr>
        <p:spPr>
          <a:xfrm>
            <a:off x="9639300" y="4451747"/>
            <a:ext cx="7416927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Справочник полигонов, тарифы и цены перевозки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9639300" y="4926062"/>
            <a:ext cx="72009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24" name="Text 22"/>
          <p:cNvSpPr/>
          <p:nvPr/>
        </p:nvSpPr>
        <p:spPr>
          <a:xfrm>
            <a:off x="9639300" y="5087987"/>
            <a:ext cx="7416927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Нормативные требования региона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9639300" y="5562302"/>
            <a:ext cx="72009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26" name="Text 24"/>
          <p:cNvSpPr/>
          <p:nvPr/>
        </p:nvSpPr>
        <p:spPr>
          <a:xfrm>
            <a:off x="9639300" y="5724227"/>
            <a:ext cx="7416927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Связь с региональными системами учёта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9639300" y="6198543"/>
            <a:ext cx="72009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28" name="Text 26"/>
          <p:cNvSpPr/>
          <p:nvPr/>
        </p:nvSpPr>
        <p:spPr>
          <a:xfrm>
            <a:off x="9639300" y="6360468"/>
            <a:ext cx="7416927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Роли участников и права доступа</a:t>
            </a:r>
            <a:endParaRPr lang="en-US" sz="1950" dirty="0"/>
          </a:p>
        </p:txBody>
      </p:sp>
      <p:sp>
        <p:nvSpPr>
          <p:cNvPr id="29" name="Shape 27"/>
          <p:cNvSpPr/>
          <p:nvPr/>
        </p:nvSpPr>
        <p:spPr>
          <a:xfrm>
            <a:off x="9639300" y="6834783"/>
            <a:ext cx="72009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30" name="Text 28"/>
          <p:cNvSpPr/>
          <p:nvPr/>
        </p:nvSpPr>
        <p:spPr>
          <a:xfrm>
            <a:off x="9639300" y="6996708"/>
            <a:ext cx="7416927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Язык и реквизиты коммерческого предложения</a:t>
            </a:r>
            <a:endParaRPr lang="en-US" sz="1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2523932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Масштабирование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200120" y="685800"/>
            <a:ext cx="10972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11/12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66800" y="1266825"/>
            <a:ext cx="14716125" cy="13180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391"/>
              </a:lnSpc>
              <a:buNone/>
            </a:pPr>
            <a:r>
              <a:rPr lang="en-US" sz="4500" b="1" spc="-45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Решение переносится на другие регионы, виды отходов и участников рынка</a:t>
            </a:r>
            <a:endParaRPr lang="en-US" sz="4500" dirty="0"/>
          </a:p>
        </p:txBody>
      </p:sp>
      <p:sp>
        <p:nvSpPr>
          <p:cNvPr id="5" name="Shape 3"/>
          <p:cNvSpPr/>
          <p:nvPr/>
        </p:nvSpPr>
        <p:spPr>
          <a:xfrm>
            <a:off x="1066800" y="2927747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6" name="Text 4"/>
          <p:cNvSpPr/>
          <p:nvPr/>
        </p:nvSpPr>
        <p:spPr>
          <a:xfrm>
            <a:off x="1066800" y="3108722"/>
            <a:ext cx="4400550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Другой регион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5448300" y="3108722"/>
            <a:ext cx="12950190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Меняются справочник полигонов и региональные правила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1066800" y="3602087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9" name="Text 7"/>
          <p:cNvSpPr/>
          <p:nvPr/>
        </p:nvSpPr>
        <p:spPr>
          <a:xfrm>
            <a:off x="1066800" y="3783062"/>
            <a:ext cx="4120515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Другие отходы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5448300" y="3783062"/>
            <a:ext cx="12126087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коммунальных и промышленных отходов меняются группы, плотности и тарифы. Пока отложено.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1066800" y="4598343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2" name="Text 10"/>
          <p:cNvSpPr/>
          <p:nvPr/>
        </p:nvSpPr>
        <p:spPr>
          <a:xfrm>
            <a:off x="1066800" y="4779318"/>
            <a:ext cx="4400550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Оператор полигона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5448300" y="4779318"/>
            <a:ext cx="12950190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Сам ведёт цены и статусы в редакторе, без менеджера ИМОЛТ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1066800" y="6268938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6800" y="5272683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6" name="Text 14"/>
          <p:cNvSpPr/>
          <p:nvPr/>
        </p:nvSpPr>
        <p:spPr>
          <a:xfrm>
            <a:off x="1066800" y="5453658"/>
            <a:ext cx="4120515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Москва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5448300" y="5453658"/>
            <a:ext cx="12126087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01.07.2026 полигон и перевозчика подбирает государственная платформа. В Москве сервис нужен для бюджета и анализа цен, в области остаётся выбор полигона.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066800" y="8105775"/>
            <a:ext cx="1776984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Порядок запуска в новом регионе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066800" y="8534400"/>
            <a:ext cx="5232350" cy="1143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1333500" y="8920163"/>
            <a:ext cx="205085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1614785" y="8944868"/>
            <a:ext cx="4610427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Заполнить справочник региона</a:t>
            </a:r>
            <a:endParaRPr lang="en-US" sz="1950" dirty="0"/>
          </a:p>
        </p:txBody>
      </p:sp>
      <p:sp>
        <p:nvSpPr>
          <p:cNvPr id="22" name="Shape 20"/>
          <p:cNvSpPr/>
          <p:nvPr/>
        </p:nvSpPr>
        <p:spPr>
          <a:xfrm>
            <a:off x="6527750" y="8534400"/>
            <a:ext cx="5232350" cy="1143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6794450" y="8920163"/>
            <a:ext cx="266105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7136755" y="8783985"/>
            <a:ext cx="4487345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Подключить региональную систему учёта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11988701" y="8534400"/>
            <a:ext cx="5232350" cy="1143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12255401" y="8920163"/>
            <a:ext cx="270123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12601724" y="8783985"/>
            <a:ext cx="4483206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Запустить с одним перевозчиком</a:t>
            </a:r>
            <a:endParaRPr lang="en-US" sz="1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18122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Ограничения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200120" y="685800"/>
            <a:ext cx="10972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12/12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66800" y="1266825"/>
            <a:ext cx="17769840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391"/>
              </a:lnSpc>
              <a:buNone/>
            </a:pPr>
            <a:r>
              <a:rPr lang="en-US" sz="4500" b="1" spc="-45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пока не сделано и что с этим делаем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1066800" y="2287786"/>
            <a:ext cx="586740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Ограничение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705600" y="2287786"/>
            <a:ext cx="469392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Мера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277600" y="2287786"/>
            <a:ext cx="230505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Решает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066800" y="2725936"/>
            <a:ext cx="123063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9" name="Text 7"/>
          <p:cNvSpPr/>
          <p:nvPr/>
        </p:nvSpPr>
        <p:spPr>
          <a:xfrm>
            <a:off x="1066800" y="3519041"/>
            <a:ext cx="5494020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Цены и статусы полигонов демонстрационные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705600" y="3519041"/>
            <a:ext cx="4395216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Заполнить справочник из официального перечня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277600" y="3667571"/>
            <a:ext cx="2305050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Заказчик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066800" y="4896743"/>
            <a:ext cx="123063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3" name="Text 11"/>
          <p:cNvSpPr/>
          <p:nvPr/>
        </p:nvSpPr>
        <p:spPr>
          <a:xfrm>
            <a:off x="1066800" y="5689848"/>
            <a:ext cx="5494020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Подсказки адресов и расстояния берутся из своих таблиц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705600" y="5689848"/>
            <a:ext cx="4395216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Выбрать поставщика, переходники готовы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1277600" y="5838379"/>
            <a:ext cx="2305050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Заказчик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066800" y="9238655"/>
            <a:ext cx="123063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7" name="Shape 15"/>
          <p:cNvSpPr/>
          <p:nvPr/>
        </p:nvSpPr>
        <p:spPr>
          <a:xfrm>
            <a:off x="1066800" y="7067699"/>
            <a:ext cx="123063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8" name="Text 16"/>
          <p:cNvSpPr/>
          <p:nvPr/>
        </p:nvSpPr>
        <p:spPr>
          <a:xfrm>
            <a:off x="1066800" y="7860804"/>
            <a:ext cx="5494020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Время в пути и переход в карты закрыты подпиской, обременения пусты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705600" y="7860804"/>
            <a:ext cx="4395216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Определить состав подписки и источник данных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1277600" y="8009334"/>
            <a:ext cx="2305050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Заказчик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3982700" y="2287786"/>
            <a:ext cx="356235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Ссылки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3982700" y="2802136"/>
            <a:ext cx="3238500" cy="3108722"/>
          </a:xfrm>
          <a:prstGeom prst="roundRect">
            <a:avLst>
              <a:gd name="adj" fmla="val 6128"/>
            </a:avLst>
          </a:prstGeom>
          <a:solidFill>
            <a:srgbClr val="F5F4F7"/>
          </a:solidFill>
          <a:ln/>
        </p:spPr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49450" y="3030736"/>
            <a:ext cx="1905000" cy="1905000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14169581" y="5088136"/>
            <a:ext cx="2864739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Мини-приложение в MAX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13982700" y="6139458"/>
            <a:ext cx="3238500" cy="3108722"/>
          </a:xfrm>
          <a:prstGeom prst="roundRect">
            <a:avLst>
              <a:gd name="adj" fmla="val 6128"/>
            </a:avLst>
          </a:prstGeom>
          <a:solidFill>
            <a:srgbClr val="F5F4F7"/>
          </a:solidFill>
          <a:ln/>
        </p:spPr>
      </p:sp>
      <p:pic>
        <p:nvPicPr>
          <p:cNvPr id="30" name="Image 1" descr="Код ссылки на видео прохождения сценария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49450" y="6368058"/>
            <a:ext cx="1905000" cy="1905000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14169581" y="8425458"/>
            <a:ext cx="2864739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Видео прохождения сценария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2026-09-25T08:34:59Z</dcterms:created>
  <dcterms:modified xsi:type="dcterms:W3CDTF">2026-09-25T08:34:59Z</dcterms:modified>
</cp:coreProperties>
</file>